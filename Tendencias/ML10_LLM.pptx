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72" r:id="rId3"/>
    <p:sldId id="279" r:id="rId4"/>
    <p:sldId id="260" r:id="rId5"/>
    <p:sldId id="274" r:id="rId6"/>
    <p:sldId id="257" r:id="rId7"/>
    <p:sldId id="280" r:id="rId8"/>
    <p:sldId id="281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25/01/2026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C88C4-BC32-827B-921E-27791C13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54676-E30E-D8F7-D274-1A2185BE8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B7224-0D1A-90EA-7997-2D76623A2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50CD2-7543-5494-B275-36487C740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5162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E9AA-5D0A-A9B8-8B1E-2A2C77BD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D5B4B-ADD5-929A-3B30-14AE63B75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0B5-0B73-68BE-2D85-DC711571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4DC7-863E-F963-CDEF-BB0A4DE06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622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633D-E169-9A9B-A16A-E8D09D81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42AE0-74EF-362B-AD3E-E9D74326D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C2CA1-B291-EBFC-0F25-62BDD2DAF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C5F3-B716-13BD-411D-CBAA03520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76138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A615-6222-BE04-21E1-765736BE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94327-5650-251A-5F31-D6306BFEE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5D51A-BBFE-7201-8171-43E95A125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207A0-8679-8A2F-D890-C8E4606DE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6139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domingo, 25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Inteligencia Artificial Generativa: El Analista Aumentado.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92876"/>
            <a:ext cx="6096000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Integración con LLM mediante API en flujos de Business </a:t>
            </a:r>
            <a:r>
              <a:rPr lang="es-ES" sz="2800" dirty="0" err="1"/>
              <a:t>Analytics</a:t>
            </a:r>
            <a:r>
              <a:rPr lang="es-ES" sz="2800" dirty="0"/>
              <a:t>.</a:t>
            </a:r>
          </a:p>
          <a:p>
            <a:pPr lvl="1"/>
            <a:endParaRPr lang="es-ES" sz="2800" b="1" dirty="0"/>
          </a:p>
          <a:p>
            <a:pPr marL="457200" lvl="1" indent="0">
              <a:buNone/>
            </a:pPr>
            <a:r>
              <a:rPr lang="es-ES" sz="2800" b="1" dirty="0"/>
              <a:t>Concepto clave:</a:t>
            </a:r>
            <a:r>
              <a:rPr lang="es-ES" sz="2800" dirty="0"/>
              <a:t> Pasar de modelos que "predicen" a modelos que "razonan" sobre datos multimodales.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34C9-B153-3173-0393-A0232A2C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0D1F-130E-85C8-0D82-E4F7465E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4" y="446980"/>
            <a:ext cx="5617028" cy="794204"/>
          </a:xfrm>
        </p:spPr>
        <p:txBody>
          <a:bodyPr/>
          <a:lstStyle/>
          <a:p>
            <a:pPr latinLnBrk="1"/>
            <a:r>
              <a:rPr lang="es-ES" dirty="0"/>
              <a:t>Conceptos Críticos para el Negocio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BC284CD-5A0C-E5F8-E594-97B2987AE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097761B-91D9-E354-B04C-922B0EFE3B54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6096000" y="1324029"/>
            <a:ext cx="6096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Ventana de Contexto: 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la "memoria de corto plazo" del modelo. Cuanto más grande sea, más documentos (o albaranes, o contratos) podemos pasarle de una sola vez para que los compare.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Multimodalidad</a:t>
            </a:r>
            <a:r>
              <a:rPr kumimoji="0" lang="es-ES" altLang="es-E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LLM 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</a:t>
            </a:r>
            <a:r>
              <a:rPr kumimoji="0" lang="es-ES" altLang="es-E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solo leen 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texto; puede "ver" un vídeo de una cámara de seguridad o analizar un gráfico de ventas directamente.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tx1"/>
                </a:solidFill>
              </a:rPr>
              <a:t>Tokens: </a:t>
            </a:r>
            <a:r>
              <a:rPr lang="es-ES" sz="2400" dirty="0">
                <a:solidFill>
                  <a:schemeClr val="tx1"/>
                </a:solidFill>
              </a:rPr>
              <a:t>La unidad de medida y coste. Entender que cada palabra o trozo de imagen tiene un precio asociado.</a:t>
            </a:r>
            <a:endParaRPr lang="es-ES" altLang="es-ES" sz="2400" dirty="0">
              <a:solidFill>
                <a:schemeClr val="tx1"/>
              </a:solidFill>
            </a:endParaRPr>
          </a:p>
        </p:txBody>
      </p:sp>
      <p:pic>
        <p:nvPicPr>
          <p:cNvPr id="11" name="Marcador de posición de 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55F06431-BEC9-1F27-BD8E-47FA30A463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5" r="223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1570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19" y="328352"/>
            <a:ext cx="5662455" cy="794204"/>
          </a:xfrm>
        </p:spPr>
        <p:txBody>
          <a:bodyPr/>
          <a:lstStyle/>
          <a:p>
            <a:r>
              <a:rPr lang="es-ES" dirty="0"/>
              <a:t>Controlando la "Creatividad" (Parámetros)</a:t>
            </a:r>
            <a:endParaRPr lang="es-ES" b="1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5856918-FA5F-370C-587B-3B7E3E41574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95459" y="1502555"/>
            <a:ext cx="5853374" cy="4686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/>
              <a:t>En negocios, la precisión suele importar más que la creatividad.</a:t>
            </a:r>
          </a:p>
          <a:p>
            <a:r>
              <a:rPr lang="es-ES" sz="2000" b="1" dirty="0"/>
              <a:t>Temperatura (</a:t>
            </a:r>
            <a:r>
              <a:rPr lang="es-ES" sz="2000" b="1" dirty="0" err="1"/>
              <a:t>Temperature</a:t>
            </a:r>
            <a:r>
              <a:rPr lang="es-ES" sz="2000" b="1" dirty="0"/>
              <a:t>):</a:t>
            </a:r>
            <a:r>
              <a:rPr lang="es-ES" sz="2000" dirty="0"/>
              <a:t>  </a:t>
            </a:r>
          </a:p>
          <a:p>
            <a:pPr marL="461963" indent="-230188">
              <a:buFont typeface="Arial" panose="020B0604020202020204" pitchFamily="34" charset="0"/>
              <a:buChar char="•"/>
            </a:pPr>
            <a:r>
              <a:rPr lang="es-ES" sz="2000" b="1" dirty="0"/>
              <a:t>0.0 (Cerca del cero):</a:t>
            </a:r>
            <a:r>
              <a:rPr lang="es-ES" sz="2000" dirty="0"/>
              <a:t> Determinista y preciso. Ideal para extraer datos de facturas o resumir informes técnicos.</a:t>
            </a:r>
          </a:p>
          <a:p>
            <a:pPr marL="461963" lvl="1"/>
            <a:r>
              <a:rPr lang="es-ES" sz="2000" b="1" dirty="0"/>
              <a:t>1.0 (Alta):</a:t>
            </a:r>
            <a:r>
              <a:rPr lang="es-ES" sz="2000" dirty="0"/>
              <a:t> Creativo y variado. Útil para redactar correos de marketing personalizados.</a:t>
            </a:r>
          </a:p>
          <a:p>
            <a:r>
              <a:rPr lang="es-ES" sz="2000" b="1" dirty="0"/>
              <a:t>Top-P y Top-K:</a:t>
            </a:r>
            <a:r>
              <a:rPr lang="es-ES" sz="2000" dirty="0"/>
              <a:t> Filtros para que el modelo elija solo las palabras más probables, evitando alucinaciones (inventar datos).</a:t>
            </a:r>
          </a:p>
        </p:txBody>
      </p:sp>
      <p:pic>
        <p:nvPicPr>
          <p:cNvPr id="9" name="Marcador de posición de 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C7C0C5DD-8C50-4604-8791-F1C8E749027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0" r="2725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D616-F525-1EB4-DAE6-549C4C7D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417-CC52-8484-B5F9-3A33ACB6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67" y="466726"/>
            <a:ext cx="5225142" cy="794204"/>
          </a:xfrm>
        </p:spPr>
        <p:txBody>
          <a:bodyPr/>
          <a:lstStyle/>
          <a:p>
            <a:pPr algn="ctr"/>
            <a:r>
              <a:rPr lang="es-ES" b="1" dirty="0"/>
              <a:t>Casos de uso empresarial con </a:t>
            </a:r>
            <a:r>
              <a:rPr lang="es-ES" b="1" dirty="0" err="1"/>
              <a:t>LLMs</a:t>
            </a:r>
            <a:endParaRPr lang="es-ES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12AEFE0-FA8C-E8BA-247E-13D636FB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C874B68-8D83-7B40-1E66-F63F35B031B8}"/>
              </a:ext>
            </a:extLst>
          </p:cNvPr>
          <p:cNvSpPr txBox="1"/>
          <p:nvPr/>
        </p:nvSpPr>
        <p:spPr>
          <a:xfrm>
            <a:off x="6097676" y="1245719"/>
            <a:ext cx="6094324" cy="557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Automatización de soporte al cliente</a:t>
            </a:r>
            <a:r>
              <a:rPr lang="es-ES" sz="2000" dirty="0"/>
              <a:t>: </a:t>
            </a:r>
            <a:r>
              <a:rPr lang="es-ES" sz="2000" dirty="0" err="1"/>
              <a:t>chatbots</a:t>
            </a:r>
            <a:r>
              <a:rPr lang="es-ES" sz="2000" dirty="0"/>
              <a:t> que resuelven consultas frecuentes.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Generación de informes ejecutivos</a:t>
            </a:r>
            <a:r>
              <a:rPr lang="es-ES" sz="2000" dirty="0"/>
              <a:t>: resúmenes automáticos de datos de ventas, finanzas y operaciones.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Análisis de sentimiento en redes sociales</a:t>
            </a:r>
            <a:r>
              <a:rPr lang="es-ES" sz="2000" dirty="0"/>
              <a:t>: monitoreo de marca en tiempo real.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Asistente legal y contractual</a:t>
            </a:r>
            <a:r>
              <a:rPr lang="es-ES" sz="2000" dirty="0"/>
              <a:t>: revisión y comparación de documentos legales.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Personalización de marketing</a:t>
            </a:r>
            <a:r>
              <a:rPr lang="es-ES" sz="2000" dirty="0"/>
              <a:t>: creación de contenido dirigido a segmentos de clientes específicos.</a:t>
            </a:r>
          </a:p>
        </p:txBody>
      </p:sp>
      <p:pic>
        <p:nvPicPr>
          <p:cNvPr id="6" name="Picture Placeholder 2" descr="image.jpg">
            <a:extLst>
              <a:ext uri="{FF2B5EF4-FFF2-40B4-BE49-F238E27FC236}">
                <a16:creationId xmlns:a16="http://schemas.microsoft.com/office/drawing/2014/main" id="{46E31CCC-4EB6-F0D2-8A27-396227AC59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t="2859" b="2859"/>
          <a:stretch>
            <a:fillRect/>
          </a:stretch>
        </p:blipFill>
        <p:spPr>
          <a:xfrm>
            <a:off x="876300" y="1778000"/>
            <a:ext cx="4108450" cy="3873500"/>
          </a:xfrm>
        </p:spPr>
      </p:pic>
    </p:spTree>
    <p:extLst>
      <p:ext uri="{BB962C8B-B14F-4D97-AF65-F5344CB8AC3E}">
        <p14:creationId xmlns:p14="http://schemas.microsoft.com/office/powerpoint/2010/main" val="48363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159" y="504927"/>
            <a:ext cx="5606981" cy="794204"/>
          </a:xfrm>
        </p:spPr>
        <p:txBody>
          <a:bodyPr/>
          <a:lstStyle/>
          <a:p>
            <a:pPr algn="ctr" latinLnBrk="1"/>
            <a:r>
              <a:rPr lang="es-ES" b="1" dirty="0"/>
              <a:t>Cómo elegir el modelo correcto</a:t>
            </a:r>
            <a:br>
              <a:rPr lang="es-ES" b="1" dirty="0"/>
            </a:b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1" y="1600583"/>
            <a:ext cx="6095999" cy="3143111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b="1" dirty="0"/>
              <a:t>Tamaño del modelo</a:t>
            </a:r>
            <a:r>
              <a:rPr lang="es-ES" sz="1800" dirty="0"/>
              <a:t>: más parámetros ≠ siempre mejor. Equilibrio entre costo y rendimiento.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b="1" dirty="0"/>
              <a:t>Latencia y velocidad</a:t>
            </a:r>
            <a:r>
              <a:rPr lang="es-ES" sz="1800" dirty="0"/>
              <a:t>: modelos más pequeños responden más rápido.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b="1" dirty="0"/>
              <a:t>Costo por token</a:t>
            </a:r>
            <a:r>
              <a:rPr lang="es-ES" sz="1800" dirty="0"/>
              <a:t>: importante para proyectos con alto volumen de consultas.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b="1" dirty="0"/>
              <a:t>Capacidades multimodales</a:t>
            </a:r>
            <a:r>
              <a:rPr lang="es-ES" sz="1800" dirty="0"/>
              <a:t>: ¿necesitas procesar imágenes, audio o solo texto?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b="1" dirty="0"/>
              <a:t>Compatibilidad con </a:t>
            </a:r>
            <a:r>
              <a:rPr lang="es-ES" sz="1800" b="1" dirty="0" err="1"/>
              <a:t>APIs</a:t>
            </a:r>
            <a:r>
              <a:rPr lang="es-ES" sz="1800" dirty="0"/>
              <a:t>: facilidad de integración en sistemas existentes.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C7D0470A-6C69-10C6-969B-6B4218A68D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Picture Placeholder 2" descr="image.jpg">
            <a:extLst>
              <a:ext uri="{FF2B5EF4-FFF2-40B4-BE49-F238E27FC236}">
                <a16:creationId xmlns:a16="http://schemas.microsoft.com/office/drawing/2014/main" id="{D7AB0649-F842-C1FB-5921-3581C1C713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59" b="2859"/>
          <a:stretch>
            <a:fillRect/>
          </a:stretch>
        </p:blipFill>
        <p:spPr>
          <a:xfrm>
            <a:off x="876300" y="1778000"/>
            <a:ext cx="4108450" cy="387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C55D-E13F-19C7-B0B1-0572933D1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A586-F383-8C40-B260-1A4A0C3C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33" y="545121"/>
            <a:ext cx="5004079" cy="794204"/>
          </a:xfrm>
        </p:spPr>
        <p:txBody>
          <a:bodyPr/>
          <a:lstStyle/>
          <a:p>
            <a:pPr algn="ctr" latinLnBrk="1"/>
            <a:r>
              <a:rPr lang="es-ES" b="1" dirty="0"/>
              <a:t>Ética y responsabilidad en el uso de </a:t>
            </a:r>
            <a:r>
              <a:rPr lang="es-ES" b="1" dirty="0" err="1"/>
              <a:t>LLMs</a:t>
            </a:r>
            <a:br>
              <a:rPr lang="es-ES" b="1" dirty="0"/>
            </a:b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1AA4ED6-6974-538E-70F6-C5A0B8A60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13" name="Marcador de posición de 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0A053ECA-55E3-639E-5FA6-759DC1E9865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6" r="13566"/>
          <a:stretch>
            <a:fillRect/>
          </a:stretch>
        </p:blipFill>
        <p:spPr/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5918904-2D68-155D-62FD-B009CC1C0E2D}"/>
              </a:ext>
            </a:extLst>
          </p:cNvPr>
          <p:cNvSpPr txBox="1"/>
          <p:nvPr/>
        </p:nvSpPr>
        <p:spPr>
          <a:xfrm>
            <a:off x="6242538" y="1593882"/>
            <a:ext cx="5865726" cy="4501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1" i="0" dirty="0">
                <a:solidFill>
                  <a:srgbClr val="0F1115"/>
                </a:solidFill>
                <a:effectLst/>
                <a:latin typeface="quote-cjk-patch"/>
              </a:rPr>
              <a:t>Sesgo algorítmico</a:t>
            </a: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: los modelos pueden reflejar sesgos presentes en los datos de entrenamiento.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1" i="0" dirty="0">
                <a:solidFill>
                  <a:srgbClr val="0F1115"/>
                </a:solidFill>
                <a:effectLst/>
                <a:latin typeface="quote-cjk-patch"/>
              </a:rPr>
              <a:t>Privacidad de datos</a:t>
            </a: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: no enviar información confidencial o personal a </a:t>
            </a:r>
            <a:r>
              <a:rPr lang="es-ES" sz="2200" b="0" i="0" dirty="0" err="1">
                <a:solidFill>
                  <a:srgbClr val="0F1115"/>
                </a:solidFill>
                <a:effectLst/>
                <a:latin typeface="quote-cjk-patch"/>
              </a:rPr>
              <a:t>APIs</a:t>
            </a: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 públicas.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1" i="0" dirty="0">
                <a:solidFill>
                  <a:srgbClr val="0F1115"/>
                </a:solidFill>
                <a:effectLst/>
                <a:latin typeface="quote-cjk-patch"/>
              </a:rPr>
              <a:t>Transparencia</a:t>
            </a: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: documentar cuándo y cómo se usa IA en las decisiones empresariales.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200" b="1" i="0" dirty="0">
                <a:solidFill>
                  <a:srgbClr val="0F1115"/>
                </a:solidFill>
                <a:effectLst/>
                <a:latin typeface="quote-cjk-patch"/>
              </a:rPr>
              <a:t>Supervisión humana</a:t>
            </a:r>
            <a:r>
              <a:rPr lang="es-ES" sz="2200" b="0" i="0" dirty="0">
                <a:solidFill>
                  <a:srgbClr val="0F1115"/>
                </a:solidFill>
                <a:effectLst/>
                <a:latin typeface="quote-cjk-patch"/>
              </a:rPr>
              <a:t>: el modelo es una herramienta, no un reemplazo del criterio humano.</a:t>
            </a:r>
          </a:p>
          <a:p>
            <a:pPr>
              <a:buNone/>
            </a:pP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363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66DD8-249F-1775-606D-B191BE86F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A146-708A-4B41-DCBC-67CBC62C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5121"/>
            <a:ext cx="6095999" cy="794204"/>
          </a:xfrm>
        </p:spPr>
        <p:txBody>
          <a:bodyPr/>
          <a:lstStyle/>
          <a:p>
            <a:pPr algn="ctr" latinLnBrk="1"/>
            <a:r>
              <a:rPr lang="es-ES" sz="2600" b="1" dirty="0"/>
              <a:t>El futuro de los </a:t>
            </a:r>
            <a:r>
              <a:rPr lang="es-ES" sz="2600" b="1" dirty="0" err="1"/>
              <a:t>LLMs</a:t>
            </a:r>
            <a:r>
              <a:rPr lang="es-ES" sz="2600" b="1" dirty="0"/>
              <a:t> en la empresa</a:t>
            </a:r>
            <a:br>
              <a:rPr lang="es-ES" b="1" dirty="0"/>
            </a:br>
            <a:br>
              <a:rPr lang="es-ES" b="1" dirty="0"/>
            </a:b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D96942D7-3A9D-78D7-DDEE-93B547AF9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13" name="Marcador de posición de 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7B3C4765-E5D5-74BA-51DE-421E045D35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6" r="13566"/>
          <a:stretch>
            <a:fillRect/>
          </a:stretch>
        </p:blipFill>
        <p:spPr/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683312A-B4EF-7EDF-558A-361DE579D004}"/>
              </a:ext>
            </a:extLst>
          </p:cNvPr>
          <p:cNvSpPr txBox="1"/>
          <p:nvPr/>
        </p:nvSpPr>
        <p:spPr>
          <a:xfrm>
            <a:off x="6095999" y="1212044"/>
            <a:ext cx="6012265" cy="6460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b="1" dirty="0"/>
              <a:t>Agentes autónomos</a:t>
            </a:r>
            <a:r>
              <a:rPr lang="es-ES" sz="2200" dirty="0"/>
              <a:t>: sistemas que no solo responden, sino que ejecutan acciones (ej. programar reuniones, enviar recordatorios).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b="1" dirty="0"/>
              <a:t>Fine-</a:t>
            </a:r>
            <a:r>
              <a:rPr lang="es-ES" sz="2200" b="1" dirty="0" err="1"/>
              <a:t>tuning</a:t>
            </a:r>
            <a:r>
              <a:rPr lang="es-ES" sz="2200" b="1" dirty="0"/>
              <a:t> específico por industria</a:t>
            </a:r>
            <a:r>
              <a:rPr lang="es-ES" sz="2200" dirty="0"/>
              <a:t>: modelos especializados en salud, legal, </a:t>
            </a:r>
            <a:r>
              <a:rPr lang="es-ES" sz="2200" dirty="0" err="1"/>
              <a:t>retail</a:t>
            </a:r>
            <a:r>
              <a:rPr lang="es-ES" sz="2200" dirty="0"/>
              <a:t>, etc.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b="1" dirty="0"/>
              <a:t>Integración con </a:t>
            </a:r>
            <a:r>
              <a:rPr lang="es-ES" sz="2200" b="1" dirty="0" err="1"/>
              <a:t>IoT</a:t>
            </a:r>
            <a:r>
              <a:rPr lang="es-ES" sz="2200" b="1" dirty="0"/>
              <a:t> y sistemas en tiempo real</a:t>
            </a:r>
            <a:r>
              <a:rPr lang="es-ES" sz="2200" dirty="0"/>
              <a:t>: análisis predictivo con datos de sensores y dispositivos.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b="1" dirty="0"/>
              <a:t>Colaboración humano-IA</a:t>
            </a:r>
            <a:r>
              <a:rPr lang="es-ES" sz="2200" dirty="0"/>
              <a:t>: entornos donde humanos y IA trabajan en flujos interactivos y complementarios.</a:t>
            </a:r>
          </a:p>
          <a:p>
            <a:pPr>
              <a:lnSpc>
                <a:spcPct val="150000"/>
              </a:lnSpc>
              <a:buNone/>
            </a:pP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52255594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1862</TotalTime>
  <Words>544</Words>
  <Application>Microsoft Office PowerPoint</Application>
  <PresentationFormat>Panorámica</PresentationFormat>
  <Paragraphs>43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Gill Sans MT</vt:lpstr>
      <vt:lpstr>quote-cjk-patch</vt:lpstr>
      <vt:lpstr>Neon Horizon</vt:lpstr>
      <vt:lpstr>🚀 De mirar el pasado a anticipar el futuro</vt:lpstr>
      <vt:lpstr>Inteligencia Artificial Generativa: El Analista Aumentado.</vt:lpstr>
      <vt:lpstr>Conceptos Críticos para el Negocio</vt:lpstr>
      <vt:lpstr>Controlando la "Creatividad" (Parámetros)</vt:lpstr>
      <vt:lpstr>Casos de uso empresarial con LLMs</vt:lpstr>
      <vt:lpstr>Cómo elegir el modelo correcto    </vt:lpstr>
      <vt:lpstr>Ética y responsabilidad en el uso de LLMs    </vt:lpstr>
      <vt:lpstr>El futuro de los LLMs en la empresa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25</cp:revision>
  <dcterms:created xsi:type="dcterms:W3CDTF">2025-09-12T17:31:23Z</dcterms:created>
  <dcterms:modified xsi:type="dcterms:W3CDTF">2026-01-25T10:48:53Z</dcterms:modified>
</cp:coreProperties>
</file>