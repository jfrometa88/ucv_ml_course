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2" r:id="rId3"/>
    <p:sldId id="279" r:id="rId4"/>
    <p:sldId id="260" r:id="rId5"/>
    <p:sldId id="274" r:id="rId6"/>
    <p:sldId id="257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24/01/2026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88C4-BC32-827B-921E-27791C13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4676-E30E-D8F7-D274-1A2185BE8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B7224-0D1A-90EA-7997-2D76623A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0CD2-7543-5494-B275-36487C740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516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sábado, 24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Evaluación de Modelos: ¿Cuánto nos cuesta equivocarnos?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 err="1"/>
              <a:t>Precision</a:t>
            </a:r>
            <a:r>
              <a:rPr lang="es-ES" sz="2800" dirty="0"/>
              <a:t>, </a:t>
            </a:r>
            <a:r>
              <a:rPr lang="es-ES" sz="2800" dirty="0" err="1"/>
              <a:t>Recall</a:t>
            </a:r>
            <a:r>
              <a:rPr lang="es-ES" sz="2800" dirty="0"/>
              <a:t> y la Curva ROC.</a:t>
            </a:r>
          </a:p>
          <a:p>
            <a:pPr marL="457200" lvl="1" indent="0">
              <a:buNone/>
            </a:pPr>
            <a:r>
              <a:rPr lang="es-ES" sz="2800" b="1" dirty="0"/>
              <a:t>Concepto clave:</a:t>
            </a:r>
            <a:r>
              <a:rPr lang="es-ES" sz="2800" dirty="0"/>
              <a:t> El "</a:t>
            </a:r>
            <a:r>
              <a:rPr lang="es-ES" sz="2800" dirty="0" err="1"/>
              <a:t>Accuracy</a:t>
            </a:r>
            <a:r>
              <a:rPr lang="es-ES" sz="2800" dirty="0"/>
              <a:t>" (acierto total) es peligroso. Necesitamos métricas que reflejen la realidad financiera.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34C9-B153-3173-0393-A0232A2C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D1F-130E-85C8-0D82-E4F7465E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46980"/>
            <a:ext cx="5617028" cy="794204"/>
          </a:xfrm>
        </p:spPr>
        <p:txBody>
          <a:bodyPr/>
          <a:lstStyle/>
          <a:p>
            <a:pPr latinLnBrk="1"/>
            <a:r>
              <a:rPr lang="es-ES" dirty="0"/>
              <a:t>EVALUACIÓN DE MODELOS: DEL ERROR TÉCNICO AL COSTE REAL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A5A04BB-285E-78DC-225E-45E9F0EC39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A7BAF-EE59-A031-32A8-41A007AC1F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95516" y="1241184"/>
            <a:ext cx="6096000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2000" b="1" dirty="0"/>
              <a:t>EL PROBLEMA DEL DIRECTOR DE MARKETING:</a:t>
            </a:r>
            <a:endParaRPr lang="es-ES" sz="2000" dirty="0"/>
          </a:p>
          <a:p>
            <a:pPr lvl="1"/>
            <a:r>
              <a:rPr lang="es-ES" sz="2000" dirty="0"/>
              <a:t>"El equipo de data </a:t>
            </a:r>
            <a:r>
              <a:rPr lang="es-ES" sz="2000" dirty="0" err="1"/>
              <a:t>science</a:t>
            </a:r>
            <a:r>
              <a:rPr lang="es-ES" sz="2000" dirty="0"/>
              <a:t> dice que el modelo tiene 95% de </a:t>
            </a:r>
            <a:r>
              <a:rPr lang="es-ES" sz="2000" dirty="0" err="1"/>
              <a:t>accuracy</a:t>
            </a:r>
            <a:r>
              <a:rPr lang="es-ES" sz="2000" dirty="0"/>
              <a:t>.</a:t>
            </a:r>
          </a:p>
          <a:p>
            <a:pPr lvl="1"/>
            <a:r>
              <a:rPr lang="es-ES" sz="2000" dirty="0"/>
              <a:t>Pero estamos regalando descuentos a clientes que no los necesitan y perdiendo a los que realmente se iban."</a:t>
            </a:r>
          </a:p>
          <a:p>
            <a:pPr lvl="1"/>
            <a:endParaRPr lang="es-ES" sz="2000" dirty="0"/>
          </a:p>
          <a:p>
            <a:pPr marL="457200" lvl="1" indent="0">
              <a:buNone/>
            </a:pPr>
            <a:r>
              <a:rPr lang="es-ES" sz="2000" b="1" dirty="0"/>
              <a:t>LA REALIDAD DOLOROSA:</a:t>
            </a:r>
          </a:p>
          <a:p>
            <a:pPr marL="457200" lvl="1" indent="0">
              <a:buNone/>
            </a:pPr>
            <a:r>
              <a:rPr lang="es-ES" sz="2000" dirty="0" err="1"/>
              <a:t>Accuracy</a:t>
            </a:r>
            <a:r>
              <a:rPr lang="es-ES" sz="2000" dirty="0"/>
              <a:t> engaña cuando:</a:t>
            </a:r>
          </a:p>
          <a:p>
            <a:pPr lvl="1"/>
            <a:r>
              <a:rPr lang="es-ES" sz="2000" dirty="0"/>
              <a:t> Las clases están desbalanceadas (99% No </a:t>
            </a:r>
            <a:r>
              <a:rPr lang="es-ES" sz="2000" dirty="0" err="1"/>
              <a:t>Churn</a:t>
            </a:r>
            <a:r>
              <a:rPr lang="es-ES" sz="2000" dirty="0"/>
              <a:t>, 1% </a:t>
            </a:r>
            <a:r>
              <a:rPr lang="es-ES" sz="2000" dirty="0" err="1"/>
              <a:t>Churn</a:t>
            </a:r>
            <a:r>
              <a:rPr lang="es-ES" sz="2000" dirty="0"/>
              <a:t>)</a:t>
            </a:r>
          </a:p>
          <a:p>
            <a:pPr lvl="1"/>
            <a:r>
              <a:rPr lang="es-ES" sz="2000" dirty="0"/>
              <a:t> Los errores tienen costos diferentes</a:t>
            </a:r>
          </a:p>
          <a:p>
            <a:pPr lvl="1"/>
            <a:r>
              <a:rPr lang="es-ES" sz="2000" dirty="0"/>
              <a:t> La "pérdida" no es simétrica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BC284CD-5A0C-E5F8-E594-97B2987AE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0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9" y="328352"/>
            <a:ext cx="5662455" cy="794204"/>
          </a:xfrm>
        </p:spPr>
        <p:txBody>
          <a:bodyPr/>
          <a:lstStyle/>
          <a:p>
            <a:r>
              <a:rPr lang="es-ES" dirty="0"/>
              <a:t>El Dilema del Analista (Precisión vs. </a:t>
            </a:r>
            <a:r>
              <a:rPr lang="es-ES" dirty="0" err="1"/>
              <a:t>Recall</a:t>
            </a:r>
            <a:r>
              <a:rPr lang="es-ES" dirty="0"/>
              <a:t>)</a:t>
            </a:r>
            <a:endParaRPr lang="es-ES" b="1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5EEEE7D-1FF5-0700-E7FD-4E0DBE2CC9F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0" y="1335799"/>
            <a:ext cx="585337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(Sensibilidad):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¿A cuántos de los que se iban a ir (</a:t>
            </a:r>
            <a:r>
              <a:rPr kumimoji="0" lang="es-ES" altLang="es-E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logré detectar? (Si es bajo, pierdo clientes).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Precisión (Calidad):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todos los que marqué como "Fuga", ¿cuántos se fueron realmente? (Si es bajo, regalo descuentos a gente que no los necesitaba).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Analogía de Negocio: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s-ES" altLang="es-E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la red de pesca. Queremos que no se escape ningún pez.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Precisión:</a:t>
            </a:r>
            <a:r>
              <a:rPr kumimoji="0" lang="es-ES" altLang="es-E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no pescar botas viejas ni basura por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Marcador de posición de imagen 9" descr="Gráfico&#10;&#10;El contenido generado por IA puede ser incorrecto.">
            <a:extLst>
              <a:ext uri="{FF2B5EF4-FFF2-40B4-BE49-F238E27FC236}">
                <a16:creationId xmlns:a16="http://schemas.microsoft.com/office/drawing/2014/main" id="{692B5ABC-7C25-1C58-D27A-ABE5A6ED39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7" r="1162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7" y="466726"/>
            <a:ext cx="5225142" cy="794204"/>
          </a:xfrm>
        </p:spPr>
        <p:txBody>
          <a:bodyPr/>
          <a:lstStyle/>
          <a:p>
            <a:r>
              <a:rPr lang="es-ES" dirty="0"/>
              <a:t>La Curva ROC y el AUC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361327"/>
            <a:ext cx="6094324" cy="420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Curva ROC: 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 un gráfico que muestra cómo varía la eficacia del modelo según seamos más o menos estrictos (cambiando el </a:t>
            </a:r>
            <a:r>
              <a:rPr lang="es-E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threshold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AUC (Área bajo la curva): 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solo número que resume la potencia del modelo.</a:t>
            </a:r>
          </a:p>
          <a:p>
            <a:pPr marL="682625" marR="0" indent="-34290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0.5: Es como lanzar una moneda (azar).</a:t>
            </a:r>
          </a:p>
          <a:p>
            <a:pPr marL="682625" marR="0" indent="-34290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0.8 - 0.9: Excelente capacidad de discriminación para negocio.</a:t>
            </a:r>
          </a:p>
        </p:txBody>
      </p:sp>
      <p:pic>
        <p:nvPicPr>
          <p:cNvPr id="11" name="Marcador de posición de imagen 10" descr="Gráfico&#10;&#10;El contenido generado por IA puede ser incorrecto.">
            <a:extLst>
              <a:ext uri="{FF2B5EF4-FFF2-40B4-BE49-F238E27FC236}">
                <a16:creationId xmlns:a16="http://schemas.microsoft.com/office/drawing/2014/main" id="{1BB1C0D8-4C70-F80E-EC24-1027427D79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7" r="333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algn="ctr" latinLnBrk="1"/>
            <a:r>
              <a:rPr lang="es-ES" dirty="0"/>
              <a:t>ESCENARIO PELIGROSO:</a:t>
            </a:r>
            <a:br>
              <a:rPr lang="es-ES" dirty="0"/>
            </a:br>
            <a:r>
              <a:rPr lang="es-ES" dirty="0"/>
              <a:t>CLASES DESBALANCEADAS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600583"/>
            <a:ext cx="6173037" cy="3143111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• 10,000 transacciones: 9,900 legítimas, 100 fraudulentas (1%)</a:t>
            </a:r>
          </a:p>
          <a:p>
            <a:pPr latinLnBrk="1"/>
            <a:r>
              <a:rPr lang="es-ES" dirty="0"/>
              <a:t>• Modelo predice "todo legítimo" → </a:t>
            </a:r>
            <a:r>
              <a:rPr lang="es-ES" dirty="0" err="1"/>
              <a:t>Accuracy</a:t>
            </a:r>
            <a:r>
              <a:rPr lang="es-ES" dirty="0"/>
              <a:t> = 99%</a:t>
            </a:r>
          </a:p>
          <a:p>
            <a:pPr latinLnBrk="1"/>
            <a:r>
              <a:rPr lang="es-ES" dirty="0"/>
              <a:t>• Pero detecta 0 fraudes → </a:t>
            </a:r>
            <a:r>
              <a:rPr lang="es-ES" dirty="0" err="1"/>
              <a:t>Recall</a:t>
            </a:r>
            <a:r>
              <a:rPr lang="es-ES" dirty="0"/>
              <a:t> = 0%</a:t>
            </a:r>
          </a:p>
          <a:p>
            <a:pPr latinLnBrk="1"/>
            <a:r>
              <a:rPr lang="es-ES" dirty="0"/>
              <a:t>• ROC: AUC podría ser decente (engañosa)</a:t>
            </a:r>
          </a:p>
          <a:p>
            <a:pPr latinLnBrk="1"/>
            <a:r>
              <a:rPr lang="es-ES" dirty="0"/>
              <a:t>• Negocio: Pérdidas por fraude continuas</a:t>
            </a:r>
          </a:p>
          <a:p>
            <a:pPr latinLnBrk="1"/>
            <a:endParaRPr lang="es-ES" b="1" dirty="0"/>
          </a:p>
          <a:p>
            <a:pPr latinLnBrk="1"/>
            <a:r>
              <a:rPr lang="es-ES" b="1" dirty="0"/>
              <a:t> LA SOLUCIÓN: CURVA PRECISION-RECALL</a:t>
            </a:r>
          </a:p>
          <a:p>
            <a:pPr latinLnBrk="1"/>
            <a:r>
              <a:rPr lang="es-ES" dirty="0"/>
              <a:t>Métrica diseñada para clases desbalanceadas</a:t>
            </a:r>
            <a:br>
              <a:rPr lang="es-ES" dirty="0"/>
            </a:br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9" name="Marcador de posición de 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707E85D0-5F0D-03DD-C719-94B354CAE6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r="933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1782</TotalTime>
  <Words>397</Words>
  <Application>Microsoft Office PowerPoint</Application>
  <PresentationFormat>Panorámica</PresentationFormat>
  <Paragraphs>38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Courier New</vt:lpstr>
      <vt:lpstr>Gill Sans MT</vt:lpstr>
      <vt:lpstr>Neon Horizon</vt:lpstr>
      <vt:lpstr>🚀 De mirar el pasado a anticipar el futuro</vt:lpstr>
      <vt:lpstr>Evaluación de Modelos: ¿Cuánto nos cuesta equivocarnos?</vt:lpstr>
      <vt:lpstr>EVALUACIÓN DE MODELOS: DEL ERROR TÉCNICO AL COSTE REAL</vt:lpstr>
      <vt:lpstr>El Dilema del Analista (Precisión vs. Recall)</vt:lpstr>
      <vt:lpstr>La Curva ROC y el AUC</vt:lpstr>
      <vt:lpstr>ESCENARIO PELIGROSO: CLASES DESBALANCEADAS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20</cp:revision>
  <dcterms:created xsi:type="dcterms:W3CDTF">2025-09-12T17:31:23Z</dcterms:created>
  <dcterms:modified xsi:type="dcterms:W3CDTF">2026-01-24T16:58:18Z</dcterms:modified>
</cp:coreProperties>
</file>