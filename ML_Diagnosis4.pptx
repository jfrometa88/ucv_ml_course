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60" r:id="rId4"/>
    <p:sldId id="257" r:id="rId5"/>
    <p:sldId id="258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25/01/2026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domingo, 25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¿Por qué falla mi modelo? Diagnóstico y Confianza.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241184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Equilibrio entre simplicidad (Parsimonia) y complejidad.</a:t>
            </a:r>
          </a:p>
          <a:p>
            <a:pPr lvl="1"/>
            <a:endParaRPr lang="es-ES" sz="2800" dirty="0"/>
          </a:p>
          <a:p>
            <a:pPr lvl="1"/>
            <a:r>
              <a:rPr lang="es-ES" sz="2800" dirty="0"/>
              <a:t>No queremos saber solo qué pasará, sino </a:t>
            </a:r>
            <a:r>
              <a:rPr lang="es-ES" sz="2800" i="1" dirty="0"/>
              <a:t>por qué</a:t>
            </a:r>
            <a:r>
              <a:rPr lang="es-ES" sz="2800" dirty="0"/>
              <a:t> pasará.</a:t>
            </a:r>
          </a:p>
          <a:p>
            <a:pPr lvl="1"/>
            <a:endParaRPr lang="es-ES" sz="2800" dirty="0"/>
          </a:p>
          <a:p>
            <a:pPr marL="457200" lvl="1" indent="0">
              <a:buNone/>
            </a:pPr>
            <a:r>
              <a:rPr lang="es-ES" sz="2800" dirty="0"/>
              <a:t>Un modelo que acierta todo en el pasado puede ser un desastre para predecir el futuro.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4" y="328352"/>
            <a:ext cx="5285433" cy="794204"/>
          </a:xfrm>
        </p:spPr>
        <p:txBody>
          <a:bodyPr/>
          <a:lstStyle/>
          <a:p>
            <a:r>
              <a:rPr lang="es-ES" b="1" dirty="0"/>
              <a:t>Los tres escenarios del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770" y="1235948"/>
            <a:ext cx="5847604" cy="4613885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 err="1"/>
              <a:t>Underfitting</a:t>
            </a:r>
            <a:r>
              <a:rPr lang="es-ES" sz="2200" b="1" dirty="0"/>
              <a:t> (</a:t>
            </a:r>
            <a:r>
              <a:rPr lang="es-ES" sz="2200" b="1" dirty="0" err="1"/>
              <a:t>Subajuste</a:t>
            </a:r>
            <a:r>
              <a:rPr lang="es-ES" sz="2200" b="1" dirty="0"/>
              <a:t>): </a:t>
            </a:r>
            <a:r>
              <a:rPr lang="es-ES" sz="2200" dirty="0"/>
              <a:t>El estudiante no ha estudiado lo suficiente. No entiende los patrones ni en los apuntes ni en el examen. (Modelo demasiado simple).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 err="1"/>
              <a:t>Overfitting</a:t>
            </a:r>
            <a:r>
              <a:rPr lang="es-ES" sz="2200" b="1" dirty="0"/>
              <a:t> (Sobreajuste):</a:t>
            </a:r>
            <a:r>
              <a:rPr lang="es-ES" sz="2200" dirty="0"/>
              <a:t> El estudiante se ha memorizado los apuntes </a:t>
            </a:r>
            <a:r>
              <a:rPr lang="es-ES" sz="2200"/>
              <a:t>de memoria. </a:t>
            </a:r>
            <a:r>
              <a:rPr lang="es-ES" sz="2200" dirty="0"/>
              <a:t>En el examen real, como las preguntas cambian un poco, fracasa. (Modelo demasiado complejo).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/>
              <a:t>Modelo Robusto: </a:t>
            </a:r>
            <a:r>
              <a:rPr lang="es-ES" sz="2200" dirty="0"/>
              <a:t>El estudiante entiende los conceptos y sabe aplicarlos a situaciones nuevas.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¿CONFIAR O NO CONFIAR EN EL MODELO?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418841"/>
            <a:ext cx="6096000" cy="4591818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EL PROBLEMA DEL DIRECTOR DE MARKETING:</a:t>
            </a:r>
            <a:endParaRPr lang="es-ES" dirty="0"/>
          </a:p>
          <a:p>
            <a:pPr latinLnBrk="1"/>
            <a:r>
              <a:rPr lang="es-ES" dirty="0"/>
              <a:t>"El modelo predijo 95% de precisión en pruebas...</a:t>
            </a:r>
          </a:p>
          <a:p>
            <a:pPr latinLnBrk="1"/>
            <a:r>
              <a:rPr lang="es-ES" dirty="0"/>
              <a:t>...pero en la realidad, estamos perdiendo dinero."</a:t>
            </a:r>
          </a:p>
          <a:p>
            <a:pPr latinLnBrk="1"/>
            <a:endParaRPr lang="es-ES" dirty="0"/>
          </a:p>
          <a:p>
            <a:pPr latinLnBrk="1"/>
            <a:endParaRPr lang="es-ES" b="1" dirty="0"/>
          </a:p>
          <a:p>
            <a:pPr latinLnBrk="1"/>
            <a:r>
              <a:rPr lang="es-ES" b="1" dirty="0"/>
              <a:t>PREGUNTA CLAVE:</a:t>
            </a:r>
          </a:p>
          <a:p>
            <a:pPr latinLnBrk="1"/>
            <a:r>
              <a:rPr lang="es-ES" dirty="0"/>
              <a:t>¿Cómo anticipar si un modelo funcionará EN LA REALIDAD</a:t>
            </a:r>
          </a:p>
          <a:p>
            <a:pPr latinLnBrk="1"/>
            <a:r>
              <a:rPr lang="es-ES" dirty="0"/>
              <a:t>antes de invertir miles de dólares?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473" y="164176"/>
            <a:ext cx="5213023" cy="794204"/>
          </a:xfrm>
        </p:spPr>
        <p:txBody>
          <a:bodyPr/>
          <a:lstStyle/>
          <a:p>
            <a:pPr latinLnBrk="1"/>
            <a:r>
              <a:rPr lang="es-ES" dirty="0"/>
              <a:t>LA REGLA DE ORO: NO HAGAS TRAMPA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2651" y="1233155"/>
            <a:ext cx="5735538" cy="4594889"/>
          </a:xfrm>
        </p:spPr>
        <p:txBody>
          <a:bodyPr>
            <a:noAutofit/>
          </a:bodyPr>
          <a:lstStyle/>
          <a:p>
            <a:r>
              <a:rPr lang="es-ES" sz="1800" b="1" dirty="0"/>
              <a:t>ANALOGÍA:</a:t>
            </a:r>
          </a:p>
          <a:p>
            <a:r>
              <a:rPr lang="es-ES" sz="1800" dirty="0"/>
              <a:t>- Entrenamiento = Estudiar con apuntes conocidos</a:t>
            </a:r>
          </a:p>
          <a:p>
            <a:r>
              <a:rPr lang="es-ES" sz="1800" dirty="0"/>
              <a:t>- Test = Examen con preguntas nuevas</a:t>
            </a:r>
            <a:endParaRPr lang="es-ES" sz="1800" b="1" dirty="0"/>
          </a:p>
          <a:p>
            <a:r>
              <a:rPr lang="es-ES" sz="1800" b="1" dirty="0"/>
              <a:t>ERROR COMÚN EN EMPRESAS:</a:t>
            </a:r>
          </a:p>
          <a:p>
            <a:r>
              <a:rPr lang="es-ES" sz="1800" dirty="0"/>
              <a:t>Usar MISMO dato para "aprender" y "examinar"</a:t>
            </a:r>
          </a:p>
          <a:p>
            <a:r>
              <a:rPr lang="es-ES" sz="1800" dirty="0"/>
              <a:t>→ Resultado: Modelos que solo funcionan en PowerPoint</a:t>
            </a:r>
            <a:endParaRPr lang="es-ES" sz="1800" b="1" dirty="0"/>
          </a:p>
          <a:p>
            <a:r>
              <a:rPr lang="es-ES" sz="1800" b="1" dirty="0"/>
              <a:t>PRÁCTICA ÉTICA:</a:t>
            </a:r>
          </a:p>
          <a:p>
            <a:r>
              <a:rPr lang="es-ES" sz="1800" dirty="0"/>
              <a:t>80% para aprender patrones</a:t>
            </a:r>
          </a:p>
          <a:p>
            <a:r>
              <a:rPr lang="es-ES" sz="1800" dirty="0"/>
              <a:t>20% para probar en "mundo real simulado"</a:t>
            </a:r>
            <a:endParaRPr lang="es-ES" sz="1800" b="1" dirty="0"/>
          </a:p>
          <a:p>
            <a:r>
              <a:rPr lang="es-ES" sz="1800" b="1" dirty="0"/>
              <a:t>PREGUNTA PARA DIRECTORES:</a:t>
            </a:r>
          </a:p>
          <a:p>
            <a:r>
              <a:rPr lang="es-ES" sz="1800" dirty="0"/>
              <a:t>¿Preferirías saber que tu modelo falla AHORA...</a:t>
            </a:r>
          </a:p>
          <a:p>
            <a:r>
              <a:rPr lang="es-ES" sz="1800" dirty="0"/>
              <a:t>...o cuando ya invertiste $500K?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r>
              <a:rPr lang="es-ES" sz="1800" b="1" dirty="0"/>
              <a:t>CÓMO LEER LOS RESULTADOS (SIN SER DATA SCIENTIST)</a:t>
            </a:r>
          </a:p>
          <a:p>
            <a:r>
              <a:rPr lang="es-ES" sz="1800" b="1" dirty="0"/>
              <a:t>SEÑAL DE UNDERFITTING:</a:t>
            </a:r>
          </a:p>
          <a:p>
            <a:r>
              <a:rPr lang="es-ES" sz="1800" dirty="0"/>
              <a:t>"El modelo no entiende ni los datos de entrenamiento"</a:t>
            </a:r>
          </a:p>
          <a:p>
            <a:r>
              <a:rPr lang="es-ES" sz="1800" dirty="0"/>
              <a:t>→ Acción: Añadir variables relevantes, modelo más complejo</a:t>
            </a:r>
          </a:p>
          <a:p>
            <a:r>
              <a:rPr lang="es-ES" sz="1800" b="1" dirty="0"/>
              <a:t>SEÑAL DE OVERFITTING:</a:t>
            </a:r>
          </a:p>
          <a:p>
            <a:r>
              <a:rPr lang="es-ES" sz="1800" dirty="0"/>
              <a:t>"El modelo es genial en nuestros datos, pésimo en nuevos"</a:t>
            </a:r>
          </a:p>
          <a:p>
            <a:r>
              <a:rPr lang="es-ES" sz="1800" dirty="0"/>
              <a:t>→ Acción: Reducir complejidad, más datos</a:t>
            </a:r>
          </a:p>
          <a:p>
            <a:pPr latinLnBrk="1"/>
            <a:r>
              <a:rPr lang="es-ES" sz="1800" b="1" dirty="0"/>
              <a:t>REGLA SENCILLA:</a:t>
            </a:r>
          </a:p>
          <a:p>
            <a:r>
              <a:rPr lang="es-ES" sz="1800" dirty="0"/>
              <a:t>Si Train R² &gt; Test R² por más de 0.1 → SOSPECHA</a:t>
            </a:r>
          </a:p>
          <a:p>
            <a:r>
              <a:rPr lang="es-ES" sz="1800" dirty="0"/>
              <a:t>Si ambos son bajos (&lt;=0.6) → PROBLEMA</a:t>
            </a:r>
          </a:p>
          <a:p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386</Words>
  <Application>Microsoft Office PowerPoint</Application>
  <PresentationFormat>Panorámica</PresentationFormat>
  <Paragraphs>46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Neon Horizon</vt:lpstr>
      <vt:lpstr>🚀 De mirar el pasado a anticipar el futuro</vt:lpstr>
      <vt:lpstr>¿Por qué falla mi modelo? Diagnóstico y Confianza.</vt:lpstr>
      <vt:lpstr>Los tres escenarios del ML</vt:lpstr>
      <vt:lpstr>¿CONFIAR O NO CONFIAR EN EL MODELO?</vt:lpstr>
      <vt:lpstr>LA REGLA DE ORO: NO HAGAS TRAMPA</vt:lpstr>
      <vt:lpstr>Advertencia temprana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11</cp:revision>
  <dcterms:created xsi:type="dcterms:W3CDTF">2025-09-12T17:31:23Z</dcterms:created>
  <dcterms:modified xsi:type="dcterms:W3CDTF">2026-01-25T10:39:23Z</dcterms:modified>
</cp:coreProperties>
</file>