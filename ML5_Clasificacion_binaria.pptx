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72" r:id="rId3"/>
    <p:sldId id="260" r:id="rId4"/>
    <p:sldId id="274" r:id="rId5"/>
    <p:sldId id="257" r:id="rId6"/>
    <p:sldId id="258" r:id="rId7"/>
    <p:sldId id="264" r:id="rId8"/>
    <p:sldId id="275" r:id="rId9"/>
    <p:sldId id="276" r:id="rId10"/>
    <p:sldId id="259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23/01/2026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7326-4649-87DA-7FFE-06EE7000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03EF0-42C9-D4C0-7DE3-74AA4BF6C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BA74AA-36DB-3AD5-C1D5-762C92CCB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97C89-CEBD-53E2-456B-5FC8BAAB5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5081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viernes, 23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Clasificación: La lógica del "Sí" o el "No".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Prediciendo el comportamiento del cliente con Regresión Logística.</a:t>
            </a:r>
          </a:p>
          <a:p>
            <a:pPr lvl="1"/>
            <a:endParaRPr lang="es-ES" sz="2800" dirty="0"/>
          </a:p>
          <a:p>
            <a:pPr marL="457200" lvl="1" indent="0">
              <a:buNone/>
            </a:pPr>
            <a:r>
              <a:rPr lang="es-ES" sz="2800" dirty="0"/>
              <a:t>No predecimos un valor, predecimos una </a:t>
            </a:r>
            <a:r>
              <a:rPr lang="es-ES" sz="2800" b="1" dirty="0"/>
              <a:t>probabilidad</a:t>
            </a:r>
            <a:r>
              <a:rPr lang="es-ES" sz="2800" dirty="0"/>
              <a:t>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855" y="328352"/>
            <a:ext cx="5566519" cy="794204"/>
          </a:xfrm>
        </p:spPr>
        <p:txBody>
          <a:bodyPr/>
          <a:lstStyle/>
          <a:p>
            <a:r>
              <a:rPr lang="es-ES" b="1" dirty="0"/>
              <a:t>¿Por qué no usar Regresión Lineal aquí?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8093DB09-5191-EB1B-6C78-2C4D86BAA0DB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96844" y="1551563"/>
            <a:ext cx="5746539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El problema: Si usamos una línea para predecir si alguien compra (1) o no (0), la línea podría darnos valores como 1.5 o -0.2, lo cual no tiene sentido en negocio.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La solución: La Función Sigmoide. Esta función "aplasta" cualquier número para que esté entre 0 y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E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ES" sz="2000" dirty="0"/>
              <a:t>Interpretación: "Hay un 85% de probabilidad de que este cliente sea Premium".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Marcador de posición de imagen 1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A814B9D-6EB8-FA17-97D0-95A957CF49F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00" r="2040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¿CONFIAR O NO CONFIAR EN EL MODELO?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28874AE5-B98A-0769-93F3-F002E34373E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C6931-46AD-E654-FCB9-5D42A68144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339325"/>
            <a:ext cx="6096000" cy="3143111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La Frontera de Decisión (</a:t>
            </a:r>
            <a:r>
              <a:rPr lang="es-ES" b="1" dirty="0" err="1"/>
              <a:t>Threshold</a:t>
            </a:r>
            <a:r>
              <a:rPr lang="es-ES" b="1" dirty="0"/>
              <a:t>)</a:t>
            </a:r>
          </a:p>
          <a:p>
            <a:pPr latinLnBrk="1"/>
            <a:endParaRPr lang="es-ES" b="1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s-ES" dirty="0"/>
              <a:t>Concepto: Por defecto, si la probabilidad es &gt; 0.5: "Sí".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s-ES" dirty="0"/>
          </a:p>
          <a:p>
            <a:pPr latinLnBrk="1"/>
            <a:r>
              <a:rPr lang="es-ES" b="1" dirty="0"/>
              <a:t>AJUSTE ESTRATÉGICO POR INDUSTRIA:</a:t>
            </a:r>
          </a:p>
          <a:p>
            <a:pPr latinLnBrk="1"/>
            <a:r>
              <a:rPr lang="es-ES" dirty="0"/>
              <a:t>🏦 </a:t>
            </a:r>
            <a:r>
              <a:rPr lang="es-ES" b="1" dirty="0"/>
              <a:t>BANCA (Créditos):</a:t>
            </a:r>
          </a:p>
          <a:p>
            <a:pPr latinLnBrk="1"/>
            <a:r>
              <a:rPr lang="es-ES" dirty="0"/>
              <a:t>Umbral: 0.7</a:t>
            </a:r>
          </a:p>
          <a:p>
            <a:pPr latinLnBrk="1"/>
            <a:r>
              <a:rPr lang="es-ES" dirty="0"/>
              <a:t>Filosofía: "Mejor rechazar bueno que aprobar malo"</a:t>
            </a:r>
          </a:p>
          <a:p>
            <a:pPr latinLnBrk="1"/>
            <a:r>
              <a:rPr lang="es-ES" dirty="0"/>
              <a:t>Costo Falso Positivo: Pérdida por impago ($10K)</a:t>
            </a:r>
          </a:p>
          <a:p>
            <a:pPr latinLnBrk="1"/>
            <a:r>
              <a:rPr lang="es-ES" dirty="0"/>
              <a:t>Costo Falso Negativo: Interés no cobrado ($500)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¿CONFIAR O NO CONFIAR EN EL MODELO?</a:t>
            </a:r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0" y="1339325"/>
            <a:ext cx="6096000" cy="3143111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AJUSTE ESTRATÉGICO POR INDUSTRIA:</a:t>
            </a:r>
          </a:p>
          <a:p>
            <a:pPr latinLnBrk="1"/>
            <a:r>
              <a:rPr lang="es-ES" dirty="0"/>
              <a:t>🛍️ </a:t>
            </a:r>
            <a:r>
              <a:rPr lang="es-ES" b="1" dirty="0"/>
              <a:t>E-COMMERCE (Marketing):</a:t>
            </a:r>
          </a:p>
          <a:p>
            <a:pPr latinLnBrk="1"/>
            <a:r>
              <a:rPr lang="es-ES" dirty="0"/>
              <a:t>Umbral: 0.3  </a:t>
            </a:r>
          </a:p>
          <a:p>
            <a:pPr latinLnBrk="1"/>
            <a:r>
              <a:rPr lang="es-ES" dirty="0"/>
              <a:t>Filosofía: "Mejor contactar de más que perder venta"</a:t>
            </a:r>
          </a:p>
          <a:p>
            <a:pPr latinLnBrk="1"/>
            <a:r>
              <a:rPr lang="es-ES" dirty="0"/>
              <a:t>Costo Falso Positivo: Email no abierto ($0.01)</a:t>
            </a:r>
          </a:p>
          <a:p>
            <a:pPr latinLnBrk="1"/>
            <a:r>
              <a:rPr lang="es-ES" dirty="0"/>
              <a:t>Costo Falso Negativo: Venta perdida ($50)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🏥 </a:t>
            </a:r>
            <a:r>
              <a:rPr lang="es-ES" b="1" dirty="0"/>
              <a:t>SALUD (Diagnóstico):</a:t>
            </a:r>
          </a:p>
          <a:p>
            <a:pPr latinLnBrk="1"/>
            <a:r>
              <a:rPr lang="es-ES" dirty="0"/>
              <a:t>Umbral: 0.1</a:t>
            </a:r>
          </a:p>
          <a:p>
            <a:pPr latinLnBrk="1"/>
            <a:r>
              <a:rPr lang="es-ES" dirty="0"/>
              <a:t>Filosofía: "Mejor falso positivo que muerte"</a:t>
            </a:r>
          </a:p>
          <a:p>
            <a:pPr latinLnBrk="1"/>
            <a:r>
              <a:rPr lang="es-ES" dirty="0"/>
              <a:t>Costo Falso Positivo: Prueba adicional ($100)</a:t>
            </a:r>
          </a:p>
          <a:p>
            <a:pPr latinLnBrk="1"/>
            <a:r>
              <a:rPr lang="es-ES" dirty="0"/>
              <a:t>Costo Falso Negativo: Vida en riesgo (incalculable)</a:t>
            </a:r>
          </a:p>
          <a:p>
            <a:pPr marL="285750" indent="-285750" latinLnBrk="1">
              <a:buFont typeface="Arial" panose="020B0604020202020204" pitchFamily="34" charset="0"/>
              <a:buChar char="•"/>
            </a:pPr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651" y="164176"/>
            <a:ext cx="5735538" cy="794204"/>
          </a:xfrm>
        </p:spPr>
        <p:txBody>
          <a:bodyPr/>
          <a:lstStyle/>
          <a:p>
            <a:pPr latinLnBrk="1"/>
            <a:r>
              <a:rPr lang="es-ES" dirty="0"/>
              <a:t>Introducción a la Matriz de Confusión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22651" y="1233155"/>
            <a:ext cx="5735538" cy="459488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No todos los errores cuestan lo mismo.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Falso Positivo: Predecir que alguien compra y no lo hace (gastamos marketing en vano).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Falso Negativo: Predecir que no compra y sí lo hacía (perdemos una venta).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9" name="Marcador de posición de 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28AC36B0-2936-EC57-F407-71B9A028043A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76" r="10976"/>
          <a:stretch>
            <a:fillRect/>
          </a:stretch>
        </p:blipFill>
        <p:spPr>
          <a:xfrm>
            <a:off x="6229978" y="0"/>
            <a:ext cx="5962022" cy="6858000"/>
          </a:xfrm>
        </p:spPr>
      </p:pic>
    </p:spTree>
    <p:extLst>
      <p:ext uri="{BB962C8B-B14F-4D97-AF65-F5344CB8AC3E}">
        <p14:creationId xmlns:p14="http://schemas.microsoft.com/office/powerpoint/2010/main" val="123000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 PECADOS CAPITALES DE LA CLASIFICACIÓN</a:t>
            </a:r>
            <a:endParaRPr dirty="0"/>
          </a:p>
        </p:txBody>
      </p:sp>
      <p:pic>
        <p:nvPicPr>
          <p:cNvPr id="3" name="Picture Placeholder 2" descr="image.jpg"/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14542" y="1260930"/>
            <a:ext cx="6077457" cy="5030116"/>
          </a:xfrm>
        </p:spPr>
        <p:txBody>
          <a:bodyPr>
            <a:noAutofit/>
          </a:bodyPr>
          <a:lstStyle/>
          <a:p>
            <a:pPr latinLnBrk="1"/>
            <a:r>
              <a:rPr lang="es-ES" b="1" dirty="0"/>
              <a:t>1. RIESGO DE UMBRAL FIJO</a:t>
            </a:r>
          </a:p>
          <a:p>
            <a:pPr latinLnBrk="1"/>
            <a:r>
              <a:rPr lang="es-ES" dirty="0"/>
              <a:t>"Usamos 0.5 porque es el default"</a:t>
            </a:r>
          </a:p>
          <a:p>
            <a:pPr latinLnBrk="1"/>
            <a:r>
              <a:rPr lang="es-ES" dirty="0"/>
              <a:t>→ REALIDAD: El negocio cambia, el umbral no</a:t>
            </a:r>
          </a:p>
          <a:p>
            <a:pPr latinLnBrk="1"/>
            <a:endParaRPr lang="es-ES" dirty="0"/>
          </a:p>
          <a:p>
            <a:pPr latinLnBrk="1"/>
            <a:r>
              <a:rPr lang="es-ES" b="1" dirty="0"/>
              <a:t>2. RIESGO DE DESBALANCE</a:t>
            </a:r>
          </a:p>
          <a:p>
            <a:pPr latinLnBrk="1"/>
            <a:r>
              <a:rPr lang="es-ES" dirty="0"/>
              <a:t>"99% no compran, 1% compran"</a:t>
            </a:r>
          </a:p>
          <a:p>
            <a:pPr latinLnBrk="1"/>
            <a:r>
              <a:rPr lang="es-ES" dirty="0"/>
              <a:t>→ Modelo aprende: "Decir 'NO' siempre = 99% de acierto"</a:t>
            </a:r>
          </a:p>
          <a:p>
            <a:pPr latinLnBrk="1"/>
            <a:r>
              <a:rPr lang="es-ES" dirty="0"/>
              <a:t>→ SOLUCIÓN: </a:t>
            </a:r>
            <a:r>
              <a:rPr lang="es-ES" dirty="0" err="1"/>
              <a:t>Oversampling</a:t>
            </a:r>
            <a:r>
              <a:rPr lang="es-ES" dirty="0"/>
              <a:t>, </a:t>
            </a:r>
            <a:r>
              <a:rPr lang="es-ES" dirty="0" err="1"/>
              <a:t>undersampling</a:t>
            </a:r>
            <a:r>
              <a:rPr lang="es-ES" dirty="0"/>
              <a:t>, pesos de clase</a:t>
            </a:r>
          </a:p>
          <a:p>
            <a:pPr latinLnBrk="1"/>
            <a:endParaRPr lang="es-ES" dirty="0"/>
          </a:p>
          <a:p>
            <a:pPr latinLnBrk="1"/>
            <a:r>
              <a:rPr lang="es-ES" b="1" dirty="0"/>
              <a:t>3. RIESGO DE SOBREOPTIMIZAR ACCURACY</a:t>
            </a:r>
          </a:p>
          <a:p>
            <a:pPr latinLnBrk="1"/>
            <a:r>
              <a:rPr lang="es-ES" dirty="0"/>
              <a:t>"¡Logramos 95% de </a:t>
            </a:r>
            <a:r>
              <a:rPr lang="es-ES" dirty="0" err="1"/>
              <a:t>accuracy</a:t>
            </a:r>
            <a:r>
              <a:rPr lang="es-ES" dirty="0"/>
              <a:t>!"</a:t>
            </a:r>
          </a:p>
          <a:p>
            <a:pPr latinLnBrk="1"/>
            <a:r>
              <a:rPr lang="es-ES" dirty="0"/>
              <a:t>→ Pero solo detecta el 10% de los fraudes reales</a:t>
            </a:r>
          </a:p>
          <a:p>
            <a:pPr latinLnBrk="1"/>
            <a:r>
              <a:rPr lang="es-ES" dirty="0"/>
              <a:t>→ MEJOR MÉTRICA: F1-score, </a:t>
            </a:r>
            <a:r>
              <a:rPr lang="es-ES" dirty="0" err="1"/>
              <a:t>Precision-Recall</a:t>
            </a:r>
            <a:endParaRPr lang="es-ES" dirty="0"/>
          </a:p>
          <a:p>
            <a:endParaRPr lang="es-ES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996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63EC0-6DB3-C216-6B58-B67E1BEDF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B89C-E468-AE47-03C6-8F0E1B46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 PECADOS CAPITALES DE LA CLASIFICACIÓN</a:t>
            </a:r>
            <a:endParaRPr dirty="0"/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125F4945-1F4C-338D-5C17-9CB50E53E5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69A61-2FF9-EEF6-4944-892E3B3674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14543" y="1199692"/>
            <a:ext cx="6184639" cy="5030116"/>
          </a:xfrm>
        </p:spPr>
        <p:txBody>
          <a:bodyPr>
            <a:noAutofit/>
          </a:bodyPr>
          <a:lstStyle/>
          <a:p>
            <a:pPr latinLnBrk="1"/>
            <a:r>
              <a:rPr lang="es-ES" sz="1500" b="1" dirty="0"/>
              <a:t>4. RIESGO DE NO ACTUALIZAR</a:t>
            </a:r>
          </a:p>
          <a:p>
            <a:pPr latinLnBrk="1"/>
            <a:r>
              <a:rPr lang="es-ES" sz="1500" dirty="0"/>
              <a:t>"El modelo de 2020 aún funciona"</a:t>
            </a:r>
          </a:p>
          <a:p>
            <a:pPr latinLnBrk="1"/>
            <a:r>
              <a:rPr lang="es-ES" sz="1500" dirty="0"/>
              <a:t>→ REALIDAD: Comportamientos cambian </a:t>
            </a:r>
            <a:r>
              <a:rPr lang="es-ES" sz="1500" dirty="0" err="1"/>
              <a:t>post-pandemia</a:t>
            </a:r>
            <a:endParaRPr lang="es-ES" sz="1500" dirty="0"/>
          </a:p>
          <a:p>
            <a:pPr latinLnBrk="1"/>
            <a:r>
              <a:rPr lang="es-ES" sz="1500" dirty="0"/>
              <a:t>→ SOLUCIÓN: Monitorización continua, </a:t>
            </a:r>
            <a:r>
              <a:rPr lang="es-ES" sz="1500" dirty="0" err="1"/>
              <a:t>retraining</a:t>
            </a:r>
            <a:endParaRPr lang="es-ES" sz="1500" dirty="0"/>
          </a:p>
          <a:p>
            <a:pPr latinLnBrk="1"/>
            <a:endParaRPr lang="es-ES" sz="1500" dirty="0"/>
          </a:p>
          <a:p>
            <a:pPr latinLnBrk="1"/>
            <a:r>
              <a:rPr lang="es-ES" sz="1500" b="1" dirty="0"/>
              <a:t> 5. RIESGO DE EXPLICABILIDAD</a:t>
            </a:r>
          </a:p>
          <a:p>
            <a:pPr latinLnBrk="1"/>
            <a:r>
              <a:rPr lang="es-ES" sz="1500" dirty="0"/>
              <a:t>"La IA dice que no le des crédito"</a:t>
            </a:r>
          </a:p>
          <a:p>
            <a:pPr latinLnBrk="1"/>
            <a:r>
              <a:rPr lang="es-ES" sz="1500" dirty="0"/>
              <a:t>→ "¿Por qué?" → "No sé, la caja negra lo dice"</a:t>
            </a:r>
          </a:p>
          <a:p>
            <a:pPr latinLnBrk="1"/>
            <a:r>
              <a:rPr lang="es-ES" sz="1500" dirty="0"/>
              <a:t>→ SOLUCIÓN: Modelos explicables como árboles de decisión</a:t>
            </a:r>
          </a:p>
          <a:p>
            <a:pPr latinLnBrk="1"/>
            <a:endParaRPr lang="es-ES" sz="1500" dirty="0"/>
          </a:p>
          <a:p>
            <a:pPr latinLnBrk="1"/>
            <a:r>
              <a:rPr lang="es-ES" sz="1500" b="1" dirty="0"/>
              <a:t>6. RIESGO DE AUTOMATIZACIÓN CIEGA (RIESGO ÉTICO-LEGAL)</a:t>
            </a:r>
          </a:p>
          <a:p>
            <a:pPr latinLnBrk="1"/>
            <a:r>
              <a:rPr lang="es-ES" sz="1500" dirty="0"/>
              <a:t>"El sistema rechaza automáticamente"</a:t>
            </a:r>
          </a:p>
          <a:p>
            <a:pPr latinLnBrk="1"/>
            <a:r>
              <a:rPr lang="es-ES" sz="1500" dirty="0"/>
              <a:t>→ Sin apelación humana</a:t>
            </a:r>
          </a:p>
          <a:p>
            <a:pPr latinLnBrk="1"/>
            <a:r>
              <a:rPr lang="es-ES" sz="1500" dirty="0"/>
              <a:t>→ CASO REAL: Amazon </a:t>
            </a:r>
            <a:r>
              <a:rPr lang="es-ES" sz="1500" dirty="0" err="1"/>
              <a:t>hiring</a:t>
            </a:r>
            <a:r>
              <a:rPr lang="es-ES" sz="1500" dirty="0"/>
              <a:t> </a:t>
            </a:r>
            <a:r>
              <a:rPr lang="es-ES" sz="1500" dirty="0" err="1"/>
              <a:t>algorithm</a:t>
            </a:r>
            <a:r>
              <a:rPr lang="es-ES" sz="1500" dirty="0"/>
              <a:t> </a:t>
            </a:r>
            <a:r>
              <a:rPr lang="es-ES" sz="1500" dirty="0" err="1"/>
              <a:t>biased</a:t>
            </a:r>
            <a:r>
              <a:rPr lang="es-ES" sz="1500" dirty="0"/>
              <a:t> </a:t>
            </a:r>
            <a:r>
              <a:rPr lang="es-ES" sz="1500" dirty="0" err="1"/>
              <a:t>against</a:t>
            </a:r>
            <a:r>
              <a:rPr lang="es-ES" sz="1500" dirty="0"/>
              <a:t> </a:t>
            </a:r>
            <a:r>
              <a:rPr lang="es-ES" sz="1500" dirty="0" err="1"/>
              <a:t>women</a:t>
            </a:r>
            <a:endParaRPr lang="es-ES" sz="1500" dirty="0"/>
          </a:p>
          <a:p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B6F9BB4-7733-991F-91A0-DF3A7C285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0787"/>
            <a:ext cx="5888334" cy="794204"/>
          </a:xfrm>
        </p:spPr>
        <p:txBody>
          <a:bodyPr/>
          <a:lstStyle/>
          <a:p>
            <a:r>
              <a:rPr lang="es-ES" dirty="0"/>
              <a:t>ENTENDIENDO LA “PROBABILIDAD" - NO ES ADIVINACIÓN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93367" y="1574799"/>
            <a:ext cx="5888334" cy="4787499"/>
          </a:xfrm>
        </p:spPr>
        <p:txBody>
          <a:bodyPr>
            <a:noAutofit/>
          </a:bodyPr>
          <a:lstStyle/>
          <a:p>
            <a:r>
              <a:rPr lang="es-ES" sz="2000" b="1" dirty="0"/>
              <a:t>NIVELES DE CONFIANZA: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0.95-1.00: "Casi seguro" → Actuar inmediatamente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0.75-0.94: "Muy probable" → Incluir en campaña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0.55-0.74: "Posible" → Monitorear, bajo costo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0.45-0.54: "Incierto" → No actuar, recolectar más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/>
              <a:t>0.00-0.44: "Improbable" → Excluir de acciones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682" y="365126"/>
            <a:ext cx="5203596" cy="794204"/>
          </a:xfrm>
        </p:spPr>
        <p:txBody>
          <a:bodyPr/>
          <a:lstStyle/>
          <a:p>
            <a:r>
              <a:rPr lang="es-ES" b="1" dirty="0"/>
              <a:t>INTERPRETABILIDAD</a:t>
            </a:r>
            <a:br>
              <a:rPr lang="es-ES" dirty="0"/>
            </a:br>
            <a:endParaRPr dirty="0"/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993" b="12993"/>
          <a:stretch>
            <a:fillRect/>
          </a:stretch>
        </p:blipFill>
        <p:spPr/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A3F9745-5C20-6AE9-2798-97B235BC59D8}"/>
              </a:ext>
            </a:extLst>
          </p:cNvPr>
          <p:cNvSpPr txBox="1"/>
          <p:nvPr/>
        </p:nvSpPr>
        <p:spPr>
          <a:xfrm>
            <a:off x="169682" y="2005205"/>
            <a:ext cx="57186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□ Coeficientes interpretados en términos de negocio</a:t>
            </a:r>
          </a:p>
          <a:p>
            <a:endParaRPr lang="es-ES" sz="2400" dirty="0"/>
          </a:p>
          <a:p>
            <a:r>
              <a:rPr lang="es-ES" sz="2400" dirty="0"/>
              <a:t>□ Variables importantes identificadas</a:t>
            </a:r>
          </a:p>
          <a:p>
            <a:endParaRPr lang="es-ES" sz="2400" dirty="0"/>
          </a:p>
          <a:p>
            <a:r>
              <a:rPr lang="es-ES" sz="2400" dirty="0"/>
              <a:t>□ Explicación lista para </a:t>
            </a:r>
            <a:r>
              <a:rPr lang="es-ES" sz="2400" dirty="0" err="1"/>
              <a:t>stakeholders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64282798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635</Words>
  <Application>Microsoft Office PowerPoint</Application>
  <PresentationFormat>Panorámica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Neon Horizon</vt:lpstr>
      <vt:lpstr>🚀 De mirar el pasado a anticipar el futuro</vt:lpstr>
      <vt:lpstr>Clasificación: La lógica del "Sí" o el "No".</vt:lpstr>
      <vt:lpstr>¿Por qué no usar Regresión Lineal aquí?</vt:lpstr>
      <vt:lpstr>¿CONFIAR O NO CONFIAR EN EL MODELO?</vt:lpstr>
      <vt:lpstr>¿CONFIAR O NO CONFIAR EN EL MODELO?</vt:lpstr>
      <vt:lpstr>Introducción a la Matriz de Confusión</vt:lpstr>
      <vt:lpstr>7 PECADOS CAPITALES DE LA CLASIFICACIÓN</vt:lpstr>
      <vt:lpstr>7 PECADOS CAPITALES DE LA CLASIFICACIÓN</vt:lpstr>
      <vt:lpstr>ENTENDIENDO LA “PROBABILIDAD" - NO ES ADIVINACIÓN</vt:lpstr>
      <vt:lpstr>INTERPRETABILIDAD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14</cp:revision>
  <dcterms:created xsi:type="dcterms:W3CDTF">2025-09-12T17:31:23Z</dcterms:created>
  <dcterms:modified xsi:type="dcterms:W3CDTF">2026-01-23T16:51:25Z</dcterms:modified>
</cp:coreProperties>
</file>