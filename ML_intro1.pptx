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7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miércoles, 21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37" y="446980"/>
            <a:ext cx="4216400" cy="794204"/>
          </a:xfrm>
        </p:spPr>
        <p:txBody>
          <a:bodyPr/>
          <a:lstStyle/>
          <a:p>
            <a:pPr lvl="0"/>
            <a:r>
              <a:rPr lang="es-ES" dirty="0">
                <a:latin typeface="Arial"/>
              </a:rPr>
              <a:t>El "Contrato" del Curso (Objetivos)</a:t>
            </a:r>
            <a:endParaRPr lang="es-ES" dirty="0"/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No vamos a: Ser matemáticos ni ingenieros de software.</a:t>
            </a:r>
          </a:p>
          <a:p>
            <a:pPr lvl="1"/>
            <a:r>
              <a:rPr lang="es-ES" sz="2800" dirty="0"/>
              <a:t>Vamos a: Ser analistas que usan la IA para mejorar la rentabilidad de una empresa.</a:t>
            </a:r>
          </a:p>
          <a:p>
            <a:pPr lvl="1"/>
            <a:r>
              <a:rPr lang="es-ES" sz="2800" dirty="0"/>
              <a:t>Meta final: Al terminar, sepas elegir qué modelo usar para un problema de negocio y cómo explicar los resultados.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Desafíos y Tendencias Globales 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397000"/>
            <a:ext cx="6096000" cy="4064000"/>
          </a:xfrm>
        </p:spPr>
        <p:txBody>
          <a:bodyPr>
            <a:noAutofit/>
          </a:bodyPr>
          <a:lstStyle/>
          <a:p>
            <a:pPr lvl="0"/>
            <a:r>
              <a:rPr lang="es-ES" b="1" dirty="0"/>
              <a:t>Desafíos:</a:t>
            </a:r>
            <a:endParaRPr lang="es-ES" dirty="0"/>
          </a:p>
          <a:p>
            <a:pPr lvl="1"/>
            <a:r>
              <a:rPr lang="es-ES" b="1" dirty="0"/>
              <a:t>Necesidad de personalización y agilidad:</a:t>
            </a:r>
            <a:r>
              <a:rPr lang="es-ES" dirty="0"/>
              <a:t> Los clientes exigen soluciones a medida y un tiempo de respuesta más rápido.</a:t>
            </a:r>
          </a:p>
          <a:p>
            <a:pPr lvl="1"/>
            <a:r>
              <a:rPr lang="es-ES" b="1" dirty="0"/>
              <a:t>Escasez de talento especializado:</a:t>
            </a:r>
            <a:r>
              <a:rPr lang="es-ES" dirty="0"/>
              <a:t> Es difícil encontrar y retener personal con habilidades en múltiples tecnologías.</a:t>
            </a:r>
          </a:p>
          <a:p>
            <a:pPr lvl="0"/>
            <a:r>
              <a:rPr lang="es-ES" b="1" dirty="0"/>
              <a:t>Tendencias:</a:t>
            </a:r>
            <a:endParaRPr lang="es-ES" dirty="0"/>
          </a:p>
          <a:p>
            <a:pPr lvl="1"/>
            <a:r>
              <a:rPr lang="es-ES" b="1" dirty="0"/>
              <a:t>Automatización de tareas repetitivas:</a:t>
            </a:r>
            <a:r>
              <a:rPr lang="es-ES" dirty="0"/>
              <a:t> Para liberar al personal de trabajos rutinarios y permitirles enfocarse en la creatividad y la estrategia.</a:t>
            </a:r>
          </a:p>
          <a:p>
            <a:pPr lvl="1"/>
            <a:r>
              <a:rPr lang="es-ES" b="1" dirty="0"/>
              <a:t>Digitalización y democratización del conocimiento:</a:t>
            </a:r>
            <a:r>
              <a:rPr lang="es-ES" dirty="0"/>
              <a:t> El conocimiento ya no reside en una sola persona, sino que está accesible para todos.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365126"/>
            <a:ext cx="4939973" cy="794204"/>
          </a:xfrm>
        </p:spPr>
        <p:txBody>
          <a:bodyPr/>
          <a:lstStyle/>
          <a:p>
            <a:r>
              <a:rPr lang="es-ES" dirty="0"/>
              <a:t>“Tengo datos… ¿y ahora qué?”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73377" y="1574799"/>
            <a:ext cx="4939973" cy="4787499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Muchas empresas miran reportes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Pocas anticipan escenarios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ML ≠ Análisis de datos ≠ Excel avanzado </a:t>
            </a:r>
            <a:endParaRPr sz="2400"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82" y="365126"/>
            <a:ext cx="5203596" cy="794204"/>
          </a:xfrm>
        </p:spPr>
        <p:txBody>
          <a:bodyPr/>
          <a:lstStyle/>
          <a:p>
            <a:r>
              <a:rPr lang="es-ES" dirty="0"/>
              <a:t>Estadística Descriptiva vs Machine </a:t>
            </a:r>
            <a:r>
              <a:rPr lang="es-ES" dirty="0" err="1"/>
              <a:t>Learning</a:t>
            </a:r>
            <a:endParaRPr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6FF776D-D971-51E0-A0F5-3E2BBE48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296529"/>
              </p:ext>
            </p:extLst>
          </p:nvPr>
        </p:nvGraphicFramePr>
        <p:xfrm>
          <a:off x="340859" y="1863005"/>
          <a:ext cx="5567572" cy="353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3786">
                  <a:extLst>
                    <a:ext uri="{9D8B030D-6E8A-4147-A177-3AD203B41FA5}">
                      <a16:colId xmlns:a16="http://schemas.microsoft.com/office/drawing/2014/main" val="2608388466"/>
                    </a:ext>
                  </a:extLst>
                </a:gridCol>
                <a:gridCol w="2783786">
                  <a:extLst>
                    <a:ext uri="{9D8B030D-6E8A-4147-A177-3AD203B41FA5}">
                      <a16:colId xmlns:a16="http://schemas.microsoft.com/office/drawing/2014/main" val="1494726522"/>
                    </a:ext>
                  </a:extLst>
                </a:gridCol>
              </a:tblGrid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Estadística Descriptiva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Machine </a:t>
                      </a:r>
                      <a:r>
                        <a:rPr lang="es-ES" b="1" dirty="0" err="1"/>
                        <a:t>Learning</a:t>
                      </a:r>
                      <a:endParaRPr lang="es-E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4528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Qué pasó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Qué pasará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186250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Reportes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Decisiones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25896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Pasado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Futuro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02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82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08" y="328352"/>
            <a:ext cx="4216400" cy="794204"/>
          </a:xfrm>
        </p:spPr>
        <p:txBody>
          <a:bodyPr/>
          <a:lstStyle/>
          <a:p>
            <a:pPr algn="ctr"/>
            <a:r>
              <a:rPr lang="es-ES" dirty="0"/>
              <a:t>Ejemplo de decisiones basada en datos en los negocios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1658" y="1748413"/>
            <a:ext cx="5439266" cy="461388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Caso:</a:t>
            </a:r>
          </a:p>
          <a:p>
            <a:r>
              <a:rPr lang="es-ES" sz="2400" dirty="0"/>
              <a:t>Inversión en publicidad → Ventas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Pregunta clave:</a:t>
            </a:r>
          </a:p>
          <a:p>
            <a:r>
              <a:rPr lang="es-ES" sz="2400" dirty="0"/>
              <a:t>¿Cuánto venderemos el próximo mes?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99" y="466726"/>
            <a:ext cx="5024487" cy="794204"/>
          </a:xfrm>
        </p:spPr>
        <p:txBody>
          <a:bodyPr/>
          <a:lstStyle/>
          <a:p>
            <a:r>
              <a:rPr lang="es-ES" dirty="0"/>
              <a:t>Caso práctico: Publicidad vs Ventas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91546" y="1376484"/>
            <a:ext cx="5439266" cy="653283"/>
          </a:xfrm>
        </p:spPr>
        <p:txBody>
          <a:bodyPr>
            <a:noAutofit/>
          </a:bodyPr>
          <a:lstStyle/>
          <a:p>
            <a:pPr marL="0" indent="0"/>
            <a:r>
              <a:rPr lang="es-ES" sz="2400" b="1" dirty="0"/>
              <a:t>Datos reales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7" name="Imagen 6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9EBF6E1B-9A88-FCE4-C92B-1F8A34427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3" y="2255995"/>
            <a:ext cx="5746806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3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72" y="365126"/>
            <a:ext cx="5128182" cy="794204"/>
          </a:xfrm>
        </p:spPr>
        <p:txBody>
          <a:bodyPr/>
          <a:lstStyle/>
          <a:p>
            <a:r>
              <a:rPr lang="es-ES" b="1" dirty="0"/>
              <a:t>Conceptos claves</a:t>
            </a:r>
            <a:endParaRPr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981" y="1035250"/>
            <a:ext cx="5419273" cy="4787499"/>
          </a:xfrm>
        </p:spPr>
        <p:txBody>
          <a:bodyPr>
            <a:noAutofit/>
          </a:bodyPr>
          <a:lstStyle/>
          <a:p>
            <a:r>
              <a:rPr lang="es-ES" sz="2000" b="1" dirty="0"/>
              <a:t>Modelo</a:t>
            </a:r>
            <a:r>
              <a:rPr lang="es-ES" sz="2000" dirty="0"/>
              <a:t>: es una representación simplificada de la realidad que nos permite analizar situaciones, evaluar escenarios y apoyar la toma de decisiones.</a:t>
            </a:r>
          </a:p>
          <a:p>
            <a:r>
              <a:rPr lang="es-ES" sz="2000" b="1" dirty="0"/>
              <a:t>Eficiencia</a:t>
            </a:r>
            <a:r>
              <a:rPr lang="es-ES" sz="2000" dirty="0"/>
              <a:t>: Hacer las cosas rápido y con pocos recursos (ej. un modelo sencillo que corre en segundos).</a:t>
            </a:r>
          </a:p>
          <a:p>
            <a:r>
              <a:rPr lang="es-ES" sz="2000" b="1" dirty="0"/>
              <a:t>Eficacia</a:t>
            </a:r>
            <a:r>
              <a:rPr lang="es-ES" sz="2000" dirty="0"/>
              <a:t>: Acertar en el resultado (ej. predecir exactamente cual va a ser el retorno de la inversión en publicidad)</a:t>
            </a:r>
          </a:p>
          <a:p>
            <a:r>
              <a:rPr lang="es-ES" sz="2000" b="1" dirty="0"/>
              <a:t> </a:t>
            </a:r>
          </a:p>
          <a:p>
            <a:r>
              <a:rPr lang="es-ES" sz="2000" b="1" dirty="0"/>
              <a:t>¿Vale la pena gastar 10.000€ más en tecnología para mejorar la precisión solo un 1%?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9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81945" y="1587500"/>
            <a:ext cx="5373279" cy="5030116"/>
          </a:xfrm>
        </p:spPr>
        <p:txBody>
          <a:bodyPr>
            <a:noAutofit/>
          </a:bodyPr>
          <a:lstStyle/>
          <a:p>
            <a:r>
              <a:rPr lang="es-ES" sz="2000" b="1" dirty="0"/>
              <a:t>Riesgos asociados:</a:t>
            </a:r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Datos limitados y/o inconsistentes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Suposiciones erróneas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El modelo no “piensa”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Arial"/>
              </a:rPr>
              <a:t>Estructura del Módulo (El Mapa)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63093" y="1587500"/>
            <a:ext cx="5637229" cy="4064000"/>
          </a:xfrm>
        </p:spPr>
        <p:txBody>
          <a:bodyPr>
            <a:no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I: Fundamentos y Datos (Sesiones 1-2).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II: Predicción de Ventas y Demanda (Sesiones 3-5).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III: Gestión de Clientes y Riesgos (Sesiones 6-8).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IV: El Futuro: Deep </a:t>
            </a:r>
            <a:r>
              <a:rPr lang="es-ES" sz="2000" dirty="0" err="1">
                <a:solidFill>
                  <a:srgbClr val="000000"/>
                </a:solidFill>
                <a:latin typeface="Arial"/>
              </a:rPr>
              <a:t>Learning</a:t>
            </a:r>
            <a:r>
              <a:rPr lang="es-ES" sz="2000" dirty="0">
                <a:solidFill>
                  <a:srgbClr val="000000"/>
                </a:solidFill>
                <a:latin typeface="Arial"/>
              </a:rPr>
              <a:t> e IA Generativa (Sesiones 9-11).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Sesión 12: Proyecto Final.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53810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417</Words>
  <Application>Microsoft Office PowerPoint</Application>
  <PresentationFormat>Panorámica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Wingdings</vt:lpstr>
      <vt:lpstr>Neon Horizon</vt:lpstr>
      <vt:lpstr>🚀 De mirar el pasado a anticipar el futuro</vt:lpstr>
      <vt:lpstr>El "Contrato" del Curso (Objetivos)</vt:lpstr>
      <vt:lpstr>Desafíos y Tendencias Globales </vt:lpstr>
      <vt:lpstr>“Tengo datos… ¿y ahora qué?”</vt:lpstr>
      <vt:lpstr>Estadística Descriptiva vs Machine Learning</vt:lpstr>
      <vt:lpstr>Ejemplo de decisiones basada en datos en los negocios</vt:lpstr>
      <vt:lpstr>Caso práctico: Publicidad vs Ventas</vt:lpstr>
      <vt:lpstr>Conceptos claves</vt:lpstr>
      <vt:lpstr>Advertencia temprana</vt:lpstr>
      <vt:lpstr>Estructura del Módulo (El Mapa)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4</cp:revision>
  <dcterms:created xsi:type="dcterms:W3CDTF">2025-09-12T17:31:23Z</dcterms:created>
  <dcterms:modified xsi:type="dcterms:W3CDTF">2026-01-21T22:19:31Z</dcterms:modified>
</cp:coreProperties>
</file>