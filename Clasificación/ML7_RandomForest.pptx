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2" r:id="rId3"/>
    <p:sldId id="260" r:id="rId4"/>
    <p:sldId id="274" r:id="rId5"/>
    <p:sldId id="257" r:id="rId6"/>
    <p:sldId id="264" r:id="rId7"/>
    <p:sldId id="277" r:id="rId8"/>
    <p:sldId id="278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24/01/2026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4E62-62E7-8FE2-D168-85D8CF31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E042F-9442-5377-83DF-67572C84D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F9798-E49B-7FC4-B373-FF9099260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791C-2407-FDA3-5610-81229257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3723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ED41-AD8E-8341-3D22-A3A50EB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B224B-4770-628D-9AF9-3B8D57906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82D7F-711B-B082-3DEE-1F2F484BE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726D-778E-3FD1-3EBD-F08136D7C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264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sábado, 24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 err="1"/>
              <a:t>Ensembles</a:t>
            </a:r>
            <a:r>
              <a:rPr lang="es-ES" dirty="0"/>
              <a:t>: La fuerza de la inteligencia colectiva.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 err="1"/>
              <a:t>Random</a:t>
            </a:r>
            <a:r>
              <a:rPr lang="es-ES" sz="2800" dirty="0"/>
              <a:t> Forest: ¿Por qué 100 árboles ven más que uno solo?</a:t>
            </a:r>
          </a:p>
          <a:p>
            <a:pPr marL="457200" lvl="1" indent="0">
              <a:buNone/>
            </a:pPr>
            <a:endParaRPr lang="es-ES" sz="2800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Reducción del riesgo de error mediante la combinación de modelos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b="1" dirty="0"/>
              <a:t>El concepto de "Sabiduría de la Multitud"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093DB09-5191-EB1B-6C78-2C4D86BAA0D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0" y="1843952"/>
            <a:ext cx="59433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Analogía de Negocio: Si quieres saber si una inversión es buena, ¿le preguntas a un solo asesor o a un comité de varios expertos independientes?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Cómo funciona: </a:t>
            </a:r>
            <a:r>
              <a:rPr lang="es-ES" altLang="es-ES" sz="2000" dirty="0" err="1"/>
              <a:t>Random</a:t>
            </a:r>
            <a:r>
              <a:rPr lang="es-ES" altLang="es-ES" sz="2000" dirty="0"/>
              <a:t> Forest crea muchos árboles. Cada uno ve una parte distinta de los datos y de las variables.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Al final, se vota: si 70 árboles dicen "Fuga" y 30 dicen "Se queda", la predicción final es "Fuga".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Marcador de posición de imagen 7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57C4D81C-89B3-7127-CE1D-53334F85B9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9" r="63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r>
              <a:rPr lang="es-ES" dirty="0"/>
              <a:t>Estabilidad vs. Interpretabilidad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28874AE5-B98A-0769-93F3-F002E34373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361327"/>
            <a:ext cx="6094324" cy="472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"</a:t>
            </a:r>
            <a:r>
              <a:rPr lang="es-E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Trade</a:t>
            </a: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-off"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Un árbol es fácil de dibujar; un bosque de 100 árboles no.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Ganancia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Perdemos la capacidad de ver el "dibujo" del árbol, pero ganamos mucha estabilidad (menos </a:t>
            </a:r>
            <a:r>
              <a:rPr lang="es-E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Overfitting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y precisión.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Solución para el Analista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Usaremos el ranking de Importancia de Variables para seguir explicando el "por qué".</a:t>
            </a:r>
          </a:p>
        </p:txBody>
      </p:sp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latinLnBrk="1"/>
            <a:r>
              <a:rPr lang="es-ES" dirty="0"/>
              <a:t>PILARES DE RANDOM FOREST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18963" y="1560389"/>
            <a:ext cx="6173037" cy="3143111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BAGGING (Bootstrap </a:t>
            </a:r>
            <a:r>
              <a:rPr lang="es-ES" b="1" dirty="0" err="1"/>
              <a:t>Aggregating</a:t>
            </a:r>
            <a:r>
              <a:rPr lang="es-ES" b="1" dirty="0"/>
              <a:t>)</a:t>
            </a:r>
          </a:p>
          <a:p>
            <a:pPr latinLnBrk="1"/>
            <a:r>
              <a:rPr lang="es-ES" dirty="0"/>
              <a:t>• Crea 100 versiones diferentes del </a:t>
            </a:r>
            <a:r>
              <a:rPr lang="es-ES" dirty="0" err="1"/>
              <a:t>dataset</a:t>
            </a:r>
            <a:endParaRPr lang="es-ES" dirty="0"/>
          </a:p>
          <a:p>
            <a:pPr latinLnBrk="1"/>
            <a:r>
              <a:rPr lang="es-ES" dirty="0"/>
              <a:t>• Cada árbol ve una muestra aleatoria (con reemplazo)</a:t>
            </a:r>
          </a:p>
          <a:p>
            <a:pPr latinLnBrk="1"/>
            <a:r>
              <a:rPr lang="es-ES" dirty="0"/>
              <a:t>• Ejemplo: 1,000 clientes → Cada árbol ve ~630 únicos</a:t>
            </a:r>
          </a:p>
          <a:p>
            <a:pPr latinLnBrk="1"/>
            <a:endParaRPr lang="es-ES" dirty="0"/>
          </a:p>
          <a:p>
            <a:pPr latinLnBrk="1"/>
            <a:r>
              <a:rPr lang="es-ES" b="1" dirty="0"/>
              <a:t>ALEATORIEDAD DE CARACTERÍSTICAS</a:t>
            </a:r>
          </a:p>
          <a:p>
            <a:pPr latinLnBrk="1"/>
            <a:r>
              <a:rPr lang="es-ES" dirty="0"/>
              <a:t>• En cada división, considera solo un subconjunto de variables</a:t>
            </a:r>
          </a:p>
          <a:p>
            <a:pPr latinLnBrk="1"/>
            <a:r>
              <a:rPr lang="es-ES" dirty="0"/>
              <a:t>• Ejemplo: 20 variables → Considera solo √20 ≈ 4 en cada división</a:t>
            </a:r>
          </a:p>
          <a:p>
            <a:pPr latinLnBrk="1"/>
            <a:r>
              <a:rPr lang="es-ES" dirty="0"/>
              <a:t>• Fuerza diversidad: Árboles no se copian entre sí</a:t>
            </a:r>
          </a:p>
          <a:p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VENTAJAS Y DESVENTAJAS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1800" b="1" dirty="0"/>
              <a:t>✅ VENTAJAS:</a:t>
            </a:r>
          </a:p>
          <a:p>
            <a:br>
              <a:rPr lang="es-ES" sz="1800" dirty="0"/>
            </a:br>
            <a:r>
              <a:rPr lang="es-ES" sz="1800" dirty="0"/>
              <a:t>• Estable: Pequeños cambios → Resultados similares</a:t>
            </a:r>
            <a:br>
              <a:rPr lang="es-ES" sz="1800" dirty="0"/>
            </a:br>
            <a:r>
              <a:rPr lang="es-ES" sz="1800" dirty="0"/>
              <a:t>• Robusto: Maneja </a:t>
            </a:r>
            <a:r>
              <a:rPr lang="es-ES" sz="1800" dirty="0" err="1"/>
              <a:t>outliers</a:t>
            </a:r>
            <a:r>
              <a:rPr lang="es-ES" sz="1800" dirty="0"/>
              <a:t> mejor</a:t>
            </a:r>
            <a:br>
              <a:rPr lang="es-ES" sz="1800" dirty="0"/>
            </a:br>
            <a:r>
              <a:rPr lang="es-ES" sz="1800" dirty="0"/>
              <a:t>• Precisa: Mejor performance en test</a:t>
            </a:r>
            <a:br>
              <a:rPr lang="es-ES" sz="1800" dirty="0"/>
            </a:br>
            <a:r>
              <a:rPr lang="es-ES" sz="1800" dirty="0"/>
              <a:t>• Versátil: Funciona bien "</a:t>
            </a:r>
            <a:r>
              <a:rPr lang="es-ES" sz="1800" dirty="0" err="1"/>
              <a:t>out</a:t>
            </a:r>
            <a:r>
              <a:rPr lang="es-ES" sz="1800" dirty="0"/>
              <a:t> </a:t>
            </a:r>
            <a:r>
              <a:rPr lang="es-ES" sz="1800" dirty="0" err="1"/>
              <a:t>of</a:t>
            </a:r>
            <a:r>
              <a:rPr lang="es-ES" sz="1800" dirty="0"/>
              <a:t> </a:t>
            </a:r>
            <a:r>
              <a:rPr lang="es-ES" sz="1800" dirty="0" err="1"/>
              <a:t>the</a:t>
            </a:r>
            <a:r>
              <a:rPr lang="es-ES" sz="1800" dirty="0"/>
              <a:t> box“</a:t>
            </a:r>
          </a:p>
          <a:p>
            <a:endParaRPr lang="es-ES" sz="1800" dirty="0"/>
          </a:p>
          <a:p>
            <a:r>
              <a:rPr lang="es-ES" sz="1800" b="1" dirty="0"/>
              <a:t>❌ DESVENTAJAS:</a:t>
            </a:r>
          </a:p>
          <a:p>
            <a:br>
              <a:rPr lang="es-ES" sz="1800" dirty="0"/>
            </a:br>
            <a:r>
              <a:rPr lang="es-ES" sz="1800" dirty="0"/>
              <a:t>• Caja negra: No hay un árbol único para mostrar</a:t>
            </a:r>
            <a:br>
              <a:rPr lang="es-ES" sz="1800" dirty="0"/>
            </a:br>
            <a:r>
              <a:rPr lang="es-ES" sz="1800" dirty="0"/>
              <a:t>• Computacionalmente costoso: 100× más lento</a:t>
            </a:r>
            <a:br>
              <a:rPr lang="es-ES" sz="1800" dirty="0"/>
            </a:br>
            <a:r>
              <a:rPr lang="es-ES" sz="1800" dirty="0"/>
              <a:t>• Memoria: Consume más guardar 100 árboles</a:t>
            </a:r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2496-EF6A-3729-1F16-DD448DAE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8585-9E0F-4C75-784D-E56D75EB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99" y="466726"/>
            <a:ext cx="5024175" cy="794204"/>
          </a:xfrm>
        </p:spPr>
        <p:txBody>
          <a:bodyPr/>
          <a:lstStyle/>
          <a:p>
            <a:pPr latinLnBrk="1"/>
            <a:r>
              <a:rPr lang="es-ES" dirty="0"/>
              <a:t>IMPORTANCIA DE  VARIABLES - EL "POR QUÉ" APROXIMADO: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0EAD7F0-2593-6D34-2745-672BB9D7AA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3A36-750E-C807-03A9-205DBC82AF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672913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sz="1800" dirty="0"/>
              <a:t>Aunque no podemos ver el árbol completo, podemos ver:</a:t>
            </a:r>
          </a:p>
          <a:p>
            <a:pPr latinLnBrk="1"/>
            <a:endParaRPr lang="es-ES" sz="1800" dirty="0"/>
          </a:p>
          <a:p>
            <a:pPr latinLnBrk="1"/>
            <a:r>
              <a:rPr lang="es-ES" sz="1800" dirty="0"/>
              <a:t>• Qué variables son más importantes en promedio</a:t>
            </a:r>
          </a:p>
          <a:p>
            <a:pPr latinLnBrk="1"/>
            <a:r>
              <a:rPr lang="es-ES" sz="1800" dirty="0"/>
              <a:t>• Cómo contribuyen a la decisión colectiva</a:t>
            </a:r>
          </a:p>
          <a:p>
            <a:pPr latinLnBrk="1"/>
            <a:r>
              <a:rPr lang="es-ES" sz="1800" dirty="0"/>
              <a:t>• Qué características diferencian a los grupos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8433DE0-FCB9-B78C-415D-C4B91C17C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2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545-F6CB-B9A0-E1FD-E8730411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D276-4F4B-83FF-3804-F1B5173E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7" y="466726"/>
            <a:ext cx="5054320" cy="794204"/>
          </a:xfrm>
        </p:spPr>
        <p:txBody>
          <a:bodyPr/>
          <a:lstStyle/>
          <a:p>
            <a:r>
              <a:rPr lang="es-ES" b="1" dirty="0"/>
              <a:t>Más Allá de </a:t>
            </a:r>
            <a:r>
              <a:rPr lang="es-ES" b="1" dirty="0" err="1"/>
              <a:t>Random</a:t>
            </a:r>
            <a:r>
              <a:rPr lang="es-ES" b="1" dirty="0"/>
              <a:t> Forest - </a:t>
            </a:r>
            <a:r>
              <a:rPr lang="es-ES" b="1" dirty="0" err="1"/>
              <a:t>Gradient</a:t>
            </a:r>
            <a:r>
              <a:rPr lang="es-ES" b="1" dirty="0"/>
              <a:t> </a:t>
            </a:r>
            <a:r>
              <a:rPr lang="es-ES" b="1" dirty="0" err="1"/>
              <a:t>Boosting</a:t>
            </a:r>
            <a:endParaRPr lang="es-ES" b="1" dirty="0"/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696E4F03-6F21-17DC-ABCE-9715663A0E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F4AD8-C54F-76F3-0C4F-6BBC8BDFF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 </a:t>
            </a:r>
          </a:p>
          <a:p>
            <a:pPr latinLnBrk="1"/>
            <a:r>
              <a:rPr lang="es-ES" b="1" dirty="0"/>
              <a:t>GRADIENT BOOSTING (BOOSTING):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• Filosofía: "Equipo que aprende de errores anteriores"</a:t>
            </a:r>
          </a:p>
          <a:p>
            <a:pPr latinLnBrk="1"/>
            <a:r>
              <a:rPr lang="es-ES" dirty="0"/>
              <a:t>• Entrenamiento: Árboles en serie, cada uno corrige al anterior</a:t>
            </a:r>
          </a:p>
          <a:p>
            <a:pPr latinLnBrk="1"/>
            <a:r>
              <a:rPr lang="es-ES" dirty="0"/>
              <a:t>• Fortaleza: Máxima precisión posible</a:t>
            </a:r>
          </a:p>
          <a:p>
            <a:pPr latinLnBrk="1"/>
            <a:r>
              <a:rPr lang="es-ES" dirty="0"/>
              <a:t>• Debilidad: Más propenso a </a:t>
            </a:r>
            <a:r>
              <a:rPr lang="es-ES" dirty="0" err="1"/>
              <a:t>overfitting</a:t>
            </a:r>
            <a:r>
              <a:rPr lang="es-ES" dirty="0"/>
              <a:t>, más lento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C7E649F-DECF-D27A-65E4-D2B2AC9C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36402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470</Words>
  <Application>Microsoft Office PowerPoint</Application>
  <PresentationFormat>Panorámica</PresentationFormat>
  <Paragraphs>50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Gill Sans MT</vt:lpstr>
      <vt:lpstr>Neon Horizon</vt:lpstr>
      <vt:lpstr>🚀 De mirar el pasado a anticipar el futuro</vt:lpstr>
      <vt:lpstr>Ensembles: La fuerza de la inteligencia colectiva.</vt:lpstr>
      <vt:lpstr>El concepto de "Sabiduría de la Multitud"</vt:lpstr>
      <vt:lpstr>Estabilidad vs. Interpretabilidad</vt:lpstr>
      <vt:lpstr>PILARES DE RANDOM FOREST   </vt:lpstr>
      <vt:lpstr>VENTAJAS Y DESVENTAJAS</vt:lpstr>
      <vt:lpstr>IMPORTANCIA DE  VARIABLES - EL "POR QUÉ" APROXIMADO:</vt:lpstr>
      <vt:lpstr>Más Allá de Random Forest - Gradient Boosting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18</cp:revision>
  <dcterms:created xsi:type="dcterms:W3CDTF">2025-09-12T17:31:23Z</dcterms:created>
  <dcterms:modified xsi:type="dcterms:W3CDTF">2026-01-24T11:42:49Z</dcterms:modified>
</cp:coreProperties>
</file>